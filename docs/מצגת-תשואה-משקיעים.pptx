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פתיחה: תשואה הוא הפיד של המשקיע הישראלי — פלטפורמה חברתית אחת בעברית שמחליפה את Twitter, TradingView ו-WhatsApp. השוק מדבר 24/7, אבל עד היום לא בעברית. אנחנו מגייסים Pre-Seed כדי לבנות את ברירת-המחדל הפיננסית של ישראל.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הבעיה: משקיע קמעונאי ישראלי בן 34 פותח 5 מסכים שונים כל בוקר — Twitter, Yahoo, WhatsApp, TradingView, חדשות. חמש אפליקציות מפוצלות, רובן באנגלית, ה-WhatsApp ספאם ללא חיפוש. אין לו מושג מה הקהל הישראלי חושב. אין פלטפורמה אחת חברתית בעברית שפותרת את הכל.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הפתרון: תשואה — פלטפורמה אחת Hebrew-first שמחליפה את כולן. ארבעה עמודים: נתוני שוק בזמן אמת (ארה״ב + ת״א), פיד חברתי עם סנטימנט קהילתי, מילון מובנה בעברית לכל מונח, ותיק וירטואלי להתאמן. הקסם: כל מספר, מניה, פוסט ומשתמש מחוברים זה לזה — חוויה אחת בעברית.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נקודה קריטית למשקיע: המוצר כבר חי בפרודקשן, לא במצגת. 27 עמודים, 26 API endpoints, 5 אינטגרציות חיות, ביצועים מעולים. תשע מודולים מלאים — Feed, Markets, Stock Detail, Portfolio, Rooms, Leaderboard ועוד. הכל עברית, RTL מלא, אפס נתונים מזויפים. אנחנו לא מבקשים כסף כדי לבנות — בנינו, ומבקשים כסף כדי לצמוח.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גודל שוק: TAM — 1.8 מיליון בעלי תיק השקעות פעיל בישראל. SAM — 400 אלף סוחרים קמעונאיים online. SOM שנה 1 — 30 עד 50 אלף רשומים. החישוב הכלכלי לשנה 3: כ-3 מיליון ש״ח ARR — מ-Pro, אפיליאט ותוכן ממומן. שוק גדול מספיק, וריאלי להגיע אליו.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תחרות: כל שחקן עושה חלק — חדשות, מסחר, גרפים, או צ׳אט — אבל אף אחד לא משלב. הבנקים והברוקרים משלימים אותנו, לא מתחרים. eToro גלובלי אך לא בעברית. ה-WhatsApp הוא הבעיה — אנחנו הסדר. הבידול: שש יכולות שרק לנו יש ביחד — עברית, נתונים בזמן אמת, סנטימנט, מילון, תיק וירטואלי, וליבה חינמית.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Traction: לא הבטחות — ביצוע. שלושה גלי פיצ׳רים כבר בפרודקשן: Foundation, מילון+סקטורים+מאקרו, וקריפטו+השוואה+דוחות. גל 4 (Retention &amp; Growth) בדרך. ה-velocity: 3-4 פיצ׳רים בשבוע, אפס חוב טכני, אפס נתונים מזויפים. זה מה שמשקיע רוצה לראות — צוות שמבצע מהר.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מודל עסקי בשלושה שלבים. שנה 1 — חינם לחלוטין, בלי paywall, בונים בסיס משתמשים וערך. שנה 2 — Tsua Pro ב-29 ש״ח לחודש: alerts ללא הגבלה, screener, אנליטיקה. שנה 2-3 — ערוצים משלימים: אפיליאט עם ברוקרים, תוכן ממומן בשקיפות, ו-B2B API. יעד שנה 3: 3 מיליון ARR, 5% המרה, NPS מעל 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מפת דרכים ל-12 חודשים. Q2 — גל 4: alerts, email, referrals → 10K רשומים. Q3 — חוכמת קהל: consensus, מומחים מאומתים → 30K. Q4 — מונטיזציה: Tsua Pro, אפיליאט → ARR ראשון. Q1 2027 — TASE מלא: נתונים בזמן אמת, אג״ח, ת״א-125 → 100K MAU ומיליון ARR.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הצוות: כרגע סולו, בשיטת עבודה מבוססת בינה מלאכותית — מהירות של צוות עם איכות של תהליך מסודר. למה אני? מכיר את המשקיע הישראלי כי אני הוא. ומה שאני מחפש לצידי: שותף מוצר-צמיחה וליווי רגולטורי.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economics שמרניים לשנה 3: ARPU של 348 ש״ח, LTV 580, CAC אורגני 45 ומשולם 180 — יחס LTV:CAC של בערך 4:1, מעל היעד של 3:1. שולי תרומה 75% בזכות stack רזה. העלויות הקבועות זעירות — כ-4,600 ש״ח לשנה כל ה-infra. Runway של מיליון ש״ח מספיק ל-18 עד 24 חודש.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סיכונים — ואיך אנחנו עונים. תחרות מ-eToro: יתרון first-mover בעברית, ו-eToro מוגבל רגולטורית. רגולציה: disclaimer בכל עמוד, אין המלצות פרטיות, אין עסקאות אמיתיות. Acquisition יקר: גל 4 ממוקד ויראליות. Churn: alerts ו-digest יומי נותנים סיבה לחזור. אנחנו מודעים לסיכונים ויש לנו מענה לכל אחד.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Ask: אנחנו מגייסים 1.2 מיליון ש״ח Pre-Seed. השימושים: 40% פיתוח (CTO + full-stack), 20% שיווק, 15% נתונים, 10% תשתיות, 10% משפטי-רגולציה, 5% רזרבה. עם הסכום הזה נגיע ל-100K MAU תוך 18 חודשים, נשיק את Tsua Pro, נחבר TASE בזמן אמת, ויהיה לנו runway של 18-24 חודש עד Series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למה עכשיו: שלושה טרנדים מתכנסים. אחד — גאות משקיעים קמעונאיים, הבנקים הכפילו חשבונות, דור Z מתחיל מוקדם. שניים — AI בעברית הפך מידע פיננסי לנגיש, ו-SEO פיננסי בעברית עדיין ריק. שלוש — ירידת אמון בבנקים, הצעיר מחפש peer-to-peer. חלון ההזדמנות הוא 2-3 שנים. תשואה בונה את ברירת-המחדל הפיננסית של ישראל — עכשיו.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סגירה: תודה. הדמו חי וזמין ב-tsua-rho.vercel.app — תתנסו בו עכשיו. מודל פיננסי מלא ו-data room זמינים תחת NDA. בואו נבנה יחד את ברירת-המחדל הפיננסית של ישראל. [החליפו את ה-placeholders בפרטי קשר אמיתיים.]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נספח טכני: חמש סיבות שקשה לחקות אותנו — מילון עברי שנכתב ידנית (curation, לא תרגום), composer עברי-first שמונע ספאם, מיפוי סקטורים מותאם ישראלית, fusion של מאקרו אמריקאי וישראלי, ו-SSG לביצועי-על. זה moat טכנולוגי אמיתי.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נספח השוואה: StockTwits הוא היריב הקרוב — והוא עשה אקזיט של 210 מיליון דולר ב-2023, מה שמוכיח שהמודל עובד. תשואה היא StockTwits פלוס חמישה פיצ׳רים (portfolio, compare, sectors, macro, מילון), בעברית, עם יתרון first-mover בשוק ישראלי של 9 מיליון איש.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D2E"/>
          </a:solidFill>
          <a:ln/>
        </p:spPr>
      </p:sp>
      <p:sp>
        <p:nvSpPr>
          <p:cNvPr id="3" name="Shape 1"/>
          <p:cNvSpPr/>
          <p:nvPr/>
        </p:nvSpPr>
        <p:spPr>
          <a:xfrm rot="2280000">
            <a:off x="8351215" y="-1828800"/>
            <a:ext cx="5486400" cy="5486400"/>
          </a:xfrm>
          <a:prstGeom prst="rect">
            <a:avLst/>
          </a:prstGeom>
          <a:solidFill>
            <a:srgbClr val="006B52"/>
          </a:solidFill>
          <a:ln/>
        </p:spPr>
      </p:sp>
      <p:sp>
        <p:nvSpPr>
          <p:cNvPr id="4" name="Shape 2"/>
          <p:cNvSpPr/>
          <p:nvPr/>
        </p:nvSpPr>
        <p:spPr>
          <a:xfrm rot="1800000">
            <a:off x="10180015" y="4846320"/>
            <a:ext cx="4572000" cy="4572000"/>
          </a:xfrm>
          <a:prstGeom prst="rect">
            <a:avLst/>
          </a:prstGeom>
          <a:solidFill>
            <a:srgbClr val="0A5240"/>
          </a:solidFill>
          <a:ln/>
        </p:spPr>
      </p:sp>
      <p:sp>
        <p:nvSpPr>
          <p:cNvPr id="5" name="Shape 3"/>
          <p:cNvSpPr/>
          <p:nvPr/>
        </p:nvSpPr>
        <p:spPr>
          <a:xfrm>
            <a:off x="10820095" y="869756"/>
            <a:ext cx="83372" cy="200092"/>
          </a:xfrm>
          <a:prstGeom prst="rect">
            <a:avLst/>
          </a:prstGeom>
          <a:solidFill>
            <a:srgbClr val="C8FFE5"/>
          </a:solidFill>
          <a:ln/>
        </p:spPr>
      </p:sp>
      <p:sp>
        <p:nvSpPr>
          <p:cNvPr id="6" name="Shape 4"/>
          <p:cNvSpPr/>
          <p:nvPr/>
        </p:nvSpPr>
        <p:spPr>
          <a:xfrm>
            <a:off x="10923476" y="703012"/>
            <a:ext cx="83372" cy="366836"/>
          </a:xfrm>
          <a:prstGeom prst="rect">
            <a:avLst/>
          </a:prstGeom>
          <a:solidFill>
            <a:srgbClr val="C8FFE5"/>
          </a:solidFill>
          <a:ln/>
        </p:spPr>
      </p:sp>
      <p:sp>
        <p:nvSpPr>
          <p:cNvPr id="7" name="Shape 5"/>
          <p:cNvSpPr/>
          <p:nvPr/>
        </p:nvSpPr>
        <p:spPr>
          <a:xfrm>
            <a:off x="11026857" y="536269"/>
            <a:ext cx="83372" cy="53357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76004" y="434889"/>
            <a:ext cx="1530706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2852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</a:t>
            </a:r>
            <a:endParaRPr lang="en-US" sz="2852" dirty="0"/>
          </a:p>
        </p:txBody>
      </p:sp>
      <p:sp>
        <p:nvSpPr>
          <p:cNvPr id="9" name="Text 7"/>
          <p:cNvSpPr/>
          <p:nvPr/>
        </p:nvSpPr>
        <p:spPr>
          <a:xfrm>
            <a:off x="3779215" y="19202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</a:t>
            </a:r>
            <a:endParaRPr lang="en-US" sz="7800" dirty="0"/>
          </a:p>
        </p:txBody>
      </p:sp>
      <p:sp>
        <p:nvSpPr>
          <p:cNvPr id="10" name="Text 8"/>
          <p:cNvSpPr/>
          <p:nvPr/>
        </p:nvSpPr>
        <p:spPr>
          <a:xfrm>
            <a:off x="3779215" y="3291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600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הפיד של המשקיע הישראלי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779215" y="3977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8F5F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מוצר אחד שמחליף את טוויטר, טריידינגוויו ווואטסאפ — הכל בעברית, במקום אחד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790895" y="4754880"/>
            <a:ext cx="5852160" cy="640080"/>
          </a:xfrm>
          <a:prstGeom prst="roundRect">
            <a:avLst>
              <a:gd name="adj" fmla="val 8571"/>
            </a:avLst>
          </a:prstGeom>
          <a:solidFill>
            <a:srgbClr val="0C4A3A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82335" y="475488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״השוק מדבר כל היום, כל יום — רק לא בעברית, עד עכשיו״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79215" y="5715000"/>
            <a:ext cx="7863840" cy="13716"/>
          </a:xfrm>
          <a:prstGeom prst="rect">
            <a:avLst/>
          </a:prstGeom>
          <a:solidFill>
            <a:srgbClr val="2F6B58"/>
          </a:solidFill>
          <a:ln/>
        </p:spPr>
      </p:sp>
      <p:sp>
        <p:nvSpPr>
          <p:cNvPr id="15" name="Text 13"/>
          <p:cNvSpPr/>
          <p:nvPr/>
        </p:nvSpPr>
        <p:spPr>
          <a:xfrm>
            <a:off x="3779215" y="5852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מצגת משקיעים · יולי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0255" y="5852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C8F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tsua-rho.vercel.app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יולי 2026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הבעיה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משקיע ישראלי פותח 5 מסכים כל בוקר</a:t>
            </a:r>
            <a:endParaRPr lang="en-US" sz="2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9535" y="1828800"/>
          <a:ext cx="53035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01168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⏰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8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איפה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8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למה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8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08:15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Twitter / X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$TEVA, $NVDA — מה קורה?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08:30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Yahoo Finance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פרימרקט, volume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09:00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 קבוצות WhatsApp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דעות, פאניקה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09:45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TradingView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גרפים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10:00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Globes / TheMarker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חדשות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82880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FF5F5"/>
          </a:solidFill>
          <a:ln/>
        </p:spPr>
      </p:sp>
      <p:sp>
        <p:nvSpPr>
          <p:cNvPr id="6" name="Shape 3"/>
          <p:cNvSpPr/>
          <p:nvPr/>
        </p:nvSpPr>
        <p:spPr>
          <a:xfrm>
            <a:off x="5888736" y="1828800"/>
            <a:ext cx="54864" cy="2743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הכאב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37744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חמש אפליקציות, הקשר אחד</a:t>
            </a:r>
            <a:endParaRPr lang="en-US" sz="120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כולן באנגלית או תרגום עלוב</a:t>
            </a:r>
            <a:endParaRPr lang="en-US" sz="120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WhatsApp: ספאם, ללא חיפוש</a:t>
            </a:r>
            <a:endParaRPr lang="en-US" sz="120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אין תחושה מה הקהל הישראלי חושב</a:t>
            </a:r>
            <a:endParaRPr lang="en-US" sz="120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מתחיל מרגיש טיפש — מונחים לא נגישים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8006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03D2E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8006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אין בישראל פלטפורמה אחת, חברתית, עברית — שפותרת את הכל.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13" name="Text 9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יולי 2026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הפתרון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— Hebrew-first Social Stock Platform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18895" y="15544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פלטפורמה אחת שמחליפה את כולן. כל הנתונים, כל הדיון, כל השוק — בעברית טבעית.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945575" y="205740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4FAF8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45575" y="222199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30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📊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037015" y="28346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נתוני שוק בזמן אמת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082735" y="33558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מניות ארה״ב + ת״א, סקטורים, מאקרו, קריפטו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38367" y="205740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4FAF8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38367" y="222199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30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💬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29807" y="28346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פיד חברתי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75527" y="33558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סנטימנט קהילתי (Bullish/Bearish), תגובות, עוקבים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31159" y="205740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4FAF8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1159" y="222199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30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🎓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422599" y="28346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מילון מובנה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68319" y="33558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כל מונח (P/E, ROE, Beta) עם הסבר בעברית רהוטה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3951" y="205740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4FAF8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951" y="222199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30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🎮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15391" y="28346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תיק וירטואלי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1111" y="33558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₪100K להתאמן, ללא סיכון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9E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375136" y="4160520"/>
            <a:ext cx="54864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9174175" y="4251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✨ הקסם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4617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4530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כל מספר במוצר → לחיצה ומיד הסבר בעברית</a:t>
            </a:r>
            <a:endParaRPr lang="en-US" sz="110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4530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כל מניה → רואה מה הקהל הישראלי חושב, עכשיו</a:t>
            </a:r>
            <a:endParaRPr lang="en-US" sz="110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4530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כל פוסט → מזהה tickers אוטומטית → מחבר ל-data</a:t>
            </a:r>
            <a:endParaRPr lang="en-US" sz="110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4530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כל משתמש → דירוג אנליסט לפי תשואת תיק וירטואלי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יולי 2026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המוצר — מה שכבר בנוי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הפלטפורמה חיה בפרודקשן — ולא בפיתוח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850831" y="1600200"/>
            <a:ext cx="1792224" cy="1051560"/>
          </a:xfrm>
          <a:prstGeom prst="roundRect">
            <a:avLst>
              <a:gd name="adj" fmla="val 8696"/>
            </a:avLst>
          </a:prstGeom>
          <a:solidFill>
            <a:srgbClr val="00A884"/>
          </a:solidFill>
          <a:ln/>
          <a:effectLst>
            <a:outerShdw sx="100000" sy="100000" kx="0" ky="0" algn="bl" rotWithShape="0" blurRad="76200" dist="25400" dir="16200000">
              <a:srgbClr val="9FE3CF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50831" y="1728216"/>
            <a:ext cx="1792224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896551" y="2252167"/>
            <a:ext cx="1700784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עמודי מוצר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022031" y="1600200"/>
            <a:ext cx="1792224" cy="1051560"/>
          </a:xfrm>
          <a:prstGeom prst="roundRect">
            <a:avLst>
              <a:gd name="adj" fmla="val 8696"/>
            </a:avLst>
          </a:prstGeom>
          <a:solidFill>
            <a:srgbClr val="00A884"/>
          </a:solidFill>
          <a:ln/>
          <a:effectLst>
            <a:outerShdw sx="100000" sy="100000" kx="0" ky="0" algn="bl" rotWithShape="0" blurRad="76200" dist="25400" dir="16200000">
              <a:srgbClr val="9FE3CF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22031" y="1728216"/>
            <a:ext cx="1792224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067751" y="2252167"/>
            <a:ext cx="1700784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 endpoints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93231" y="1600200"/>
            <a:ext cx="1792224" cy="1051560"/>
          </a:xfrm>
          <a:prstGeom prst="roundRect">
            <a:avLst>
              <a:gd name="adj" fmla="val 8696"/>
            </a:avLst>
          </a:prstGeom>
          <a:solidFill>
            <a:srgbClr val="00A884"/>
          </a:solidFill>
          <a:ln/>
          <a:effectLst>
            <a:outerShdw sx="100000" sy="100000" kx="0" ky="0" algn="bl" rotWithShape="0" blurRad="76200" dist="25400" dir="16200000">
              <a:srgbClr val="9FE3CF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93231" y="1728216"/>
            <a:ext cx="1792224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38951" y="2252167"/>
            <a:ext cx="1700784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רכיבי React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64431" y="1600200"/>
            <a:ext cx="1792224" cy="1051560"/>
          </a:xfrm>
          <a:prstGeom prst="roundRect">
            <a:avLst>
              <a:gd name="adj" fmla="val 8696"/>
            </a:avLst>
          </a:prstGeom>
          <a:solidFill>
            <a:srgbClr val="00A884"/>
          </a:solidFill>
          <a:ln/>
          <a:effectLst>
            <a:outerShdw sx="100000" sy="100000" kx="0" ky="0" algn="bl" rotWithShape="0" blurRad="76200" dist="25400" dir="16200000">
              <a:srgbClr val="9FE3CF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64431" y="1728216"/>
            <a:ext cx="1792224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120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410151" y="2252167"/>
            <a:ext cx="1700784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קומיטים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35631" y="1600200"/>
            <a:ext cx="1792224" cy="1051560"/>
          </a:xfrm>
          <a:prstGeom prst="roundRect">
            <a:avLst>
              <a:gd name="adj" fmla="val 8696"/>
            </a:avLst>
          </a:prstGeom>
          <a:solidFill>
            <a:srgbClr val="00A884"/>
          </a:solidFill>
          <a:ln/>
          <a:effectLst>
            <a:outerShdw sx="100000" sy="100000" kx="0" ky="0" algn="bl" rotWithShape="0" blurRad="76200" dist="25400" dir="16200000">
              <a:srgbClr val="9FE3CF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35631" y="1728216"/>
            <a:ext cx="1792224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581351" y="2252167"/>
            <a:ext cx="1700784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אינטגרציות חיות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6831" y="1600200"/>
            <a:ext cx="1792224" cy="1051560"/>
          </a:xfrm>
          <a:prstGeom prst="roundRect">
            <a:avLst>
              <a:gd name="adj" fmla="val 8696"/>
            </a:avLst>
          </a:prstGeom>
          <a:solidFill>
            <a:srgbClr val="00A884"/>
          </a:solidFill>
          <a:ln/>
          <a:effectLst>
            <a:outerShdw sx="100000" sy="100000" kx="0" ky="0" algn="bl" rotWithShape="0" blurRad="76200" dist="25400" dir="16200000">
              <a:srgbClr val="9FE3CF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6831" y="1728216"/>
            <a:ext cx="1792224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52551" y="2252167"/>
            <a:ext cx="1700784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ערכות נושא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🧩 מודול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8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מה זה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8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פיד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פוסטים, סנטימנט, תיוג מניות, תמונות, שרשורים — בזמן אמת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שווקים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מדדים, עולות ויורדות, מט״ח, מפת חום סקטורים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עמוד מניה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גרף, נתונים, חדשות, סנטימנט קהילה, דיון, מבנה בעלויות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תיק וירטואלי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אחזקות, רווח והפסד, מעקב ביצועים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ליגה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דירוג אנליסטים קהילתי עם פודיום ותגים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התראות ואפליקציה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התראות מחיר, נוטיפיקציות, התקנה למסך הבית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548640" y="55321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E8F5F0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55321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עברית מלאה ✓     מצב כהה ובהיר ✓     נגישות ✓     אפס דאטה מזויף ✓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27" name="Text 23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יולי 2026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גודל השוק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TAM · SAM · SOM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2895" y="178308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1615" y="1783080"/>
            <a:ext cx="10058400" cy="566928"/>
          </a:xfrm>
          <a:prstGeom prst="roundRect">
            <a:avLst>
              <a:gd name="adj" fmla="val 9677"/>
            </a:avLst>
          </a:prstGeom>
          <a:solidFill>
            <a:srgbClr val="003D2E"/>
          </a:solidFill>
          <a:ln/>
        </p:spPr>
      </p:sp>
      <p:sp>
        <p:nvSpPr>
          <p:cNvPr id="6" name="Text 4"/>
          <p:cNvSpPr/>
          <p:nvPr/>
        </p:nvSpPr>
        <p:spPr>
          <a:xfrm>
            <a:off x="258775" y="1783080"/>
            <a:ext cx="978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1.8M בעלי תיק השקעות פעיל בישראל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362895" y="262432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13455" y="2624328"/>
            <a:ext cx="6766560" cy="566928"/>
          </a:xfrm>
          <a:prstGeom prst="roundRect">
            <a:avLst>
              <a:gd name="adj" fmla="val 9677"/>
            </a:avLst>
          </a:prstGeom>
          <a:solidFill>
            <a:srgbClr val="006B52"/>
          </a:solidFill>
          <a:ln/>
        </p:spPr>
      </p:sp>
      <p:sp>
        <p:nvSpPr>
          <p:cNvPr id="9" name="Text 7"/>
          <p:cNvSpPr/>
          <p:nvPr/>
        </p:nvSpPr>
        <p:spPr>
          <a:xfrm>
            <a:off x="3550615" y="2624328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400K קמעונאיים, סוחרים עצמאית online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362895" y="346557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071055" y="3465576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1A9EFF"/>
          </a:solidFill>
          <a:ln/>
        </p:spPr>
      </p:sp>
      <p:sp>
        <p:nvSpPr>
          <p:cNvPr id="12" name="Text 10"/>
          <p:cNvSpPr/>
          <p:nvPr/>
        </p:nvSpPr>
        <p:spPr>
          <a:xfrm>
            <a:off x="7208215" y="346557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30–50K משתמשים רשומים (שנה 1)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1091672" cy="1783080"/>
          </a:xfrm>
          <a:prstGeom prst="roundRect">
            <a:avLst>
              <a:gd name="adj" fmla="val 4103"/>
            </a:avLst>
          </a:prstGeom>
          <a:solidFill>
            <a:srgbClr val="F4FAF8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62495" y="4572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💰 חישוב ערך שנתי (שנה 3)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0" y="5074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100K MAU × 5% Pro × ₪29 × 12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5074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₪1.7M ARR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35040" y="5367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Affiliate — 15K referrals × ₪50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367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₪750K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35040" y="566013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Sponsored content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6601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₪500K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5742432"/>
            <a:ext cx="10332720" cy="16459"/>
          </a:xfrm>
          <a:prstGeom prst="rect">
            <a:avLst/>
          </a:prstGeom>
          <a:solidFill>
            <a:srgbClr val="00A884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579729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יעד שנה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7972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4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~₪3M ARR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26" name="Text 23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יולי 2026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תחרות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למה אין כבר פלטפורמה כזו בישראל?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828800"/>
                <a:gridCol w="2926080"/>
                <a:gridCol w="2862072"/>
              </a:tblGrid>
              <a:tr h="4023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שחקן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8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נוכחי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8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מה חסר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8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איום עלינו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8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Bizportal / Globes / TheMarker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חדשות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חד-כיווני, ללא קהילה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⚠️ בינוני — brand, SEO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IBI / Interactive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מסחר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UI כבד, לא מלמד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✅ משלים — לא מתחרה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StockTwits / eToro Social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פיד גלובלי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אנגלית, לא רלוונטי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⚠️ eToro גדול — אך לא עברית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TradingView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גרפים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לפרופים, אנגלית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⚠️ נמוך — משלים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Telegram / WhatsApp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נוכחות יומית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ספאם, ללא ארגון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✅ בעיה — אנחנו הסדר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97680"/>
            <a:ext cx="11091672" cy="1737360"/>
          </a:xfrm>
          <a:prstGeom prst="roundRect">
            <a:avLst>
              <a:gd name="adj" fmla="val 5263"/>
            </a:avLst>
          </a:prstGeom>
          <a:solidFill>
            <a:srgbClr val="003D2E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44348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🏆 הבידול המנצח — 6 יכולות שרק לנו יש ביחד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59775" y="4937760"/>
            <a:ext cx="3383280" cy="420624"/>
          </a:xfrm>
          <a:prstGeom prst="roundRect">
            <a:avLst>
              <a:gd name="adj" fmla="val 50000"/>
            </a:avLst>
          </a:prstGeom>
          <a:solidFill>
            <a:srgbClr val="0C4A3A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59775" y="493776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Hebrew-first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66767" y="4937760"/>
            <a:ext cx="3383280" cy="420624"/>
          </a:xfrm>
          <a:prstGeom prst="roundRect">
            <a:avLst>
              <a:gd name="adj" fmla="val 50000"/>
            </a:avLst>
          </a:prstGeom>
          <a:solidFill>
            <a:srgbClr val="0C4A3A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66767" y="493776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data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273759" y="4937760"/>
            <a:ext cx="3383280" cy="420624"/>
          </a:xfrm>
          <a:prstGeom prst="roundRect">
            <a:avLst>
              <a:gd name="adj" fmla="val 50000"/>
            </a:avLst>
          </a:prstGeom>
          <a:solidFill>
            <a:srgbClr val="0C4A3A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73759" y="493776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Community sentiment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259775" y="5440680"/>
            <a:ext cx="3383280" cy="420624"/>
          </a:xfrm>
          <a:prstGeom prst="roundRect">
            <a:avLst>
              <a:gd name="adj" fmla="val 50000"/>
            </a:avLst>
          </a:prstGeom>
          <a:solidFill>
            <a:srgbClr val="0C4A3A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59775" y="544068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Dictionary built-in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766767" y="5440680"/>
            <a:ext cx="3383280" cy="420624"/>
          </a:xfrm>
          <a:prstGeom prst="roundRect">
            <a:avLst>
              <a:gd name="adj" fmla="val 50000"/>
            </a:avLst>
          </a:prstGeom>
          <a:solidFill>
            <a:srgbClr val="0C4A3A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66767" y="544068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Virtual portfolio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273759" y="5440680"/>
            <a:ext cx="3383280" cy="420624"/>
          </a:xfrm>
          <a:prstGeom prst="roundRect">
            <a:avLst>
              <a:gd name="adj" fmla="val 50000"/>
            </a:avLst>
          </a:prstGeom>
          <a:solidFill>
            <a:srgbClr val="0C4A3A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73759" y="544068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Free core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21" name="Text 17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יולי 2026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MVP → Production → 3 גלי פיצ׳רים בשבועות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323015" y="1828800"/>
            <a:ext cx="27432" cy="3108960"/>
          </a:xfrm>
          <a:prstGeom prst="rect">
            <a:avLst/>
          </a:prstGeom>
          <a:solidFill>
            <a:srgbClr val="C0DACE"/>
          </a:solidFill>
          <a:ln/>
        </p:spPr>
      </p:sp>
      <p:sp>
        <p:nvSpPr>
          <p:cNvPr id="5" name="Shape 3"/>
          <p:cNvSpPr/>
          <p:nvPr/>
        </p:nvSpPr>
        <p:spPr>
          <a:xfrm>
            <a:off x="11130991" y="1828800"/>
            <a:ext cx="384048" cy="384048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6" name="Text 4"/>
          <p:cNvSpPr/>
          <p:nvPr/>
        </p:nvSpPr>
        <p:spPr>
          <a:xfrm>
            <a:off x="11130991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62095" y="1792224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גל 1 · Foundation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62095" y="2139696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Auth · Feed · Stocks · Portfolio · Rooms · Notifications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130991" y="2606040"/>
            <a:ext cx="384048" cy="384048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10" name="Text 8"/>
          <p:cNvSpPr/>
          <p:nvPr/>
        </p:nvSpPr>
        <p:spPr>
          <a:xfrm>
            <a:off x="11130991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62095" y="2569464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גל 2 · מילון + סקטורים + מאקרו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62095" y="2916936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30+ מונחים · Tooltips · GICS heatmap · FRED + בנק ישראל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1130991" y="3383280"/>
            <a:ext cx="384048" cy="384048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14" name="Text 12"/>
          <p:cNvSpPr/>
          <p:nvPr/>
        </p:nvSpPr>
        <p:spPr>
          <a:xfrm>
            <a:off x="11130991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62095" y="3346704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גל 3 · קריפטו + השוואה + דוחות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62095" y="3694176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 מטבעות · Compare 4 stocks · Earnings calendar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1130991" y="4160520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1130991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62095" y="4123944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גל 4 · Retention &amp; Growth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62095" y="4471416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Alerts · Email · Push · OG images · Widgets · Referrals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9E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530584" y="512064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12064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⚡ קצב: שלושה-ארבעה פיצ׳רים בפרודקשן בשבוע · אפס חוב טכני · אפס דאטה מזויף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26" name="Text 23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יולי 2026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מודל עסקי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Freemium → Pro → Affiliates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058607" y="1828800"/>
            <a:ext cx="3584448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C0DA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59007" y="1664208"/>
            <a:ext cx="384048" cy="384048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6" name="Text 4"/>
          <p:cNvSpPr/>
          <p:nvPr/>
        </p:nvSpPr>
        <p:spPr>
          <a:xfrm>
            <a:off x="11259007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41487" y="2011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שנה 1 · חינם לחלוטין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41487" y="2697480"/>
            <a:ext cx="3246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אין paywall לפני שרואים ערך</a:t>
            </a:r>
            <a:endParaRPr lang="en-US" sz="105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יעד: 30–50K רשומים, 10K MAU</a:t>
            </a:r>
            <a:endParaRPr lang="en-US" sz="105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עלויות תשתית &lt; ₪5K/חודש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64431" y="1828800"/>
            <a:ext cx="3584448" cy="3017520"/>
          </a:xfrm>
          <a:prstGeom prst="roundRect">
            <a:avLst>
              <a:gd name="adj" fmla="val 3030"/>
            </a:avLst>
          </a:prstGeom>
          <a:solidFill>
            <a:srgbClr val="F4FAF8"/>
          </a:solidFill>
          <a:ln w="25400">
            <a:solidFill>
              <a:srgbClr val="00A88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64831" y="1664208"/>
            <a:ext cx="384048" cy="384048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11" name="Text 9"/>
          <p:cNvSpPr/>
          <p:nvPr/>
        </p:nvSpPr>
        <p:spPr>
          <a:xfrm>
            <a:off x="7564831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47311" y="2011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שנה 2 · Tsua Pro · ₪29/חודש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47311" y="2697480"/>
            <a:ext cx="3246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Alerts ללא הגבלה (Free: 10)</a:t>
            </a:r>
            <a:endParaRPr lang="en-US" sz="105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Screener מתקדם — P/E, ROE, דיבידנד</a:t>
            </a:r>
            <a:endParaRPr lang="en-US" sz="105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Portfolio Analytics + דוחות PDF</a:t>
            </a:r>
            <a:endParaRPr lang="en-US" sz="105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 Access · Ad-free · Early access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0255" y="1828800"/>
            <a:ext cx="3584448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C0DAC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0655" y="1664208"/>
            <a:ext cx="384048" cy="384048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16" name="Text 14"/>
          <p:cNvSpPr/>
          <p:nvPr/>
        </p:nvSpPr>
        <p:spPr>
          <a:xfrm>
            <a:off x="3870655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3135" y="2011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שנה 2–3 · ערוצים משלימים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3135" y="2697480"/>
            <a:ext cx="3246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Affiliate עם ברוקרים — ₪30–60/lead</a:t>
            </a:r>
            <a:endParaRPr lang="en-US" sz="105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Sponsored content — disclosure</a:t>
            </a:r>
            <a:endParaRPr lang="en-US" sz="105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B2B API — בלוגים / newsletters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03D2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07492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🎯 יעד שנה 3:  ₪3M ARR  ·  5% conversion  ·  NPS &gt;50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יולי 2026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מפת דרכים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12 חודשים קדימה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945575" y="178308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FF9E8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82735" y="19202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spc="100" kern="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Q2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082735" y="22402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גל 4 — הבא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082735" y="283464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🔔 Alerts engine</a:t>
            </a:r>
            <a:endParaRPr lang="en-US" sz="100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📧 Email digest</a:t>
            </a:r>
            <a:endParaRPr lang="en-US" sz="100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🖼 OG share images</a:t>
            </a:r>
            <a:endParaRPr lang="en-US" sz="100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📊 Embed widgets</a:t>
            </a:r>
            <a:endParaRPr lang="en-US" sz="100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👥 Referrals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082735" y="4937760"/>
            <a:ext cx="2423160" cy="10973"/>
          </a:xfrm>
          <a:prstGeom prst="rect">
            <a:avLst/>
          </a:prstGeom>
          <a:solidFill>
            <a:srgbClr val="C0DACE"/>
          </a:solidFill>
          <a:ln/>
        </p:spPr>
      </p:sp>
      <p:sp>
        <p:nvSpPr>
          <p:cNvPr id="9" name="Text 7"/>
          <p:cNvSpPr/>
          <p:nvPr/>
        </p:nvSpPr>
        <p:spPr>
          <a:xfrm>
            <a:off x="9037015" y="50292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▶ 10K רשומים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38367" y="178308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9050">
            <a:solidFill>
              <a:srgbClr val="C0DA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5527" y="19202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spc="100" kern="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Q3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75527" y="22402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גל 5 — חוכמת קהל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75527" y="283464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Consensus rating</a:t>
            </a:r>
            <a:endParaRPr lang="en-US" sz="100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Verified experts</a:t>
            </a:r>
            <a:endParaRPr lang="en-US" sz="100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Polls ומדדים</a:t>
            </a:r>
            <a:endParaRPr lang="en-US" sz="100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Analyst reports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75527" y="4937760"/>
            <a:ext cx="2423160" cy="10973"/>
          </a:xfrm>
          <a:prstGeom prst="rect">
            <a:avLst/>
          </a:prstGeom>
          <a:solidFill>
            <a:srgbClr val="C0DACE"/>
          </a:solidFill>
          <a:ln/>
        </p:spPr>
      </p:sp>
      <p:sp>
        <p:nvSpPr>
          <p:cNvPr id="15" name="Text 13"/>
          <p:cNvSpPr/>
          <p:nvPr/>
        </p:nvSpPr>
        <p:spPr>
          <a:xfrm>
            <a:off x="6229807" y="50292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▶ 30K · DAU/MAU &gt;30%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1159" y="178308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9050">
            <a:solidFill>
              <a:srgbClr val="C0DA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68319" y="19202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spc="100" kern="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Q4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68319" y="22402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גל 6 — Monetization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68319" y="283464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 Pro launch</a:t>
            </a:r>
            <a:endParaRPr lang="en-US" sz="100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Affiliate integration</a:t>
            </a:r>
            <a:endParaRPr lang="en-US" sz="100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Screener מתקדם</a:t>
            </a:r>
            <a:endParaRPr lang="en-US" sz="100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Portfolio analytics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68319" y="4937760"/>
            <a:ext cx="2423160" cy="10973"/>
          </a:xfrm>
          <a:prstGeom prst="rect">
            <a:avLst/>
          </a:prstGeom>
          <a:solidFill>
            <a:srgbClr val="C0DACE"/>
          </a:solidFill>
          <a:ln/>
        </p:spPr>
      </p:sp>
      <p:sp>
        <p:nvSpPr>
          <p:cNvPr id="21" name="Text 19"/>
          <p:cNvSpPr/>
          <p:nvPr/>
        </p:nvSpPr>
        <p:spPr>
          <a:xfrm>
            <a:off x="3422599" y="50292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▶ ₪100K ARR ראשון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3951" y="178308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9050">
            <a:solidFill>
              <a:srgbClr val="C0DA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1111" y="19202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spc="100" kern="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Q1 2027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1111" y="22402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גל 7 — TASE full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1111" y="283464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נתונים real-time</a:t>
            </a:r>
            <a:endParaRPr lang="en-US" sz="100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אג״ח ממשלתיות</a:t>
            </a:r>
            <a:endParaRPr lang="en-US" sz="100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קרנות סל ישראליות</a:t>
            </a:r>
            <a:endParaRPr lang="en-US" sz="100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מדד ת״א-125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1111" y="4937760"/>
            <a:ext cx="2423160" cy="10973"/>
          </a:xfrm>
          <a:prstGeom prst="rect">
            <a:avLst/>
          </a:prstGeom>
          <a:solidFill>
            <a:srgbClr val="C0DACE"/>
          </a:solidFill>
          <a:ln/>
        </p:spPr>
      </p:sp>
      <p:sp>
        <p:nvSpPr>
          <p:cNvPr id="27" name="Text 25"/>
          <p:cNvSpPr/>
          <p:nvPr/>
        </p:nvSpPr>
        <p:spPr>
          <a:xfrm>
            <a:off x="615391" y="50292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▶ 100K MAU · ₪1M ARR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30" name="Text 27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יולי 2026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הצוות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מי בונה את תשואה — ואיך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058607" y="1691640"/>
            <a:ext cx="3584448" cy="1874520"/>
          </a:xfrm>
          <a:prstGeom prst="roundRect">
            <a:avLst>
              <a:gd name="adj" fmla="val 4878"/>
            </a:avLst>
          </a:prstGeom>
          <a:solidFill>
            <a:srgbClr val="F4FAF8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58607" y="1828800"/>
            <a:ext cx="35844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195767" y="2377440"/>
            <a:ext cx="33101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אני מגדיר — הבינה המלאכותית מבצעת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41487" y="2971800"/>
            <a:ext cx="32186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אפיונים וסקירות כתובים, ביצוע מהיר עם בקרה על כל שלב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64431" y="1691640"/>
            <a:ext cx="3584448" cy="1874520"/>
          </a:xfrm>
          <a:prstGeom prst="roundRect">
            <a:avLst>
              <a:gd name="adj" fmla="val 4878"/>
            </a:avLst>
          </a:prstGeom>
          <a:solidFill>
            <a:srgbClr val="F4FAF8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64431" y="1828800"/>
            <a:ext cx="35844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🔬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01591" y="2377440"/>
            <a:ext cx="33101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בדיקות שיטתיות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47311" y="2971800"/>
            <a:ext cx="32186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סורקי ניגודיות, בדיקות בריאות ואימות אחרי כל פריסה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70255" y="1691640"/>
            <a:ext cx="3584448" cy="1874520"/>
          </a:xfrm>
          <a:prstGeom prst="roundRect">
            <a:avLst>
              <a:gd name="adj" fmla="val 4878"/>
            </a:avLst>
          </a:prstGeom>
          <a:solidFill>
            <a:srgbClr val="F4FAF8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0255" y="1828800"/>
            <a:ext cx="35844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📚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07415" y="2377440"/>
            <a:ext cx="33101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הידע נשמר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3135" y="2971800"/>
            <a:ext cx="32186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כל לקח הופך לתיעוד ולכלי — הפרויקט לומד, לא רק אני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39535" y="3794760"/>
            <a:ext cx="5303520" cy="1783080"/>
          </a:xfrm>
          <a:prstGeom prst="roundRect">
            <a:avLst>
              <a:gd name="adj" fmla="val 4103"/>
            </a:avLst>
          </a:prstGeom>
          <a:solidFill>
            <a:srgbClr val="E8F5F0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2415" y="39136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למה אני?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22415" y="42976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מכיר את המשקיע הישראלי — אני הוא, לא מחקר</a:t>
            </a:r>
            <a:endParaRPr lang="en-US" sz="115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כל המוצר נבנה על ידי אדם אחד — מהירות מוכחת</a:t>
            </a:r>
            <a:endParaRPr lang="en-US" sz="115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מבין את השפה — עברית אמיתית, לא תרגום מכונה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5029200" cy="1783080"/>
          </a:xfrm>
          <a:prstGeom prst="roundRect">
            <a:avLst>
              <a:gd name="adj" fmla="val 4103"/>
            </a:avLst>
          </a:prstGeom>
          <a:solidFill>
            <a:srgbClr val="F4FAF8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9136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מה אני מחפש לצידי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42976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שותף או שותפה בתחום מוצר וצמיחה</a:t>
            </a:r>
            <a:endParaRPr lang="en-US" sz="110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ליווי פיננסי-רגולטורי לקראת השקה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יולי 2026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מה כל משתמש שווה — הנחות שמרניות (שנה 3)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850831" y="1691640"/>
            <a:ext cx="179222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C0DA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6551" y="1801368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850" b="1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ARPU Pro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96551" y="224028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₪348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96551" y="2770632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₪29 × 12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022031" y="1691640"/>
            <a:ext cx="179222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C0DA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67751" y="1801368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850" b="1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LTV (Churn 5%)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067751" y="224028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₪580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067751" y="2770632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 חודש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93231" y="1691640"/>
            <a:ext cx="179222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C0DA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8951" y="1801368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850" b="1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CAC Organic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238951" y="224028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₪45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238951" y="2770632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referral + SEO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64431" y="1691640"/>
            <a:ext cx="179222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C0DA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10151" y="1801368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850" b="1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CAC Paid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410151" y="224028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₪180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410151" y="2770632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Meta + Google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35631" y="1691640"/>
            <a:ext cx="1792224" cy="1554480"/>
          </a:xfrm>
          <a:prstGeom prst="roundRect">
            <a:avLst>
              <a:gd name="adj" fmla="val 4706"/>
            </a:avLst>
          </a:prstGeom>
          <a:solidFill>
            <a:srgbClr val="003D2E"/>
          </a:solidFill>
          <a:ln w="19050">
            <a:solidFill>
              <a:srgbClr val="003D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81351" y="1801368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85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LTV:CAC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81351" y="224028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~4:1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581351" y="2770632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יעד &gt;3:1 ✓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06831" y="1691640"/>
            <a:ext cx="179222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C0DA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2551" y="1801368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850" b="1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Contribution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52551" y="224028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75%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52551" y="2770632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lean stack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3566160"/>
            <a:ext cx="11091672" cy="1920240"/>
          </a:xfrm>
          <a:prstGeom prst="roundRect">
            <a:avLst>
              <a:gd name="adj" fmla="val 3810"/>
            </a:avLst>
          </a:prstGeom>
          <a:solidFill>
            <a:srgbClr val="FFF9E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45375" y="3703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💸 עלויות קבועות (שנה 1)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75120" y="4114800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Vercel Pro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0640" y="411480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$20/חודש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4370832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Supabase Pro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0" y="437083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$25/חודש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75120" y="4626864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Finnhub Premium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20640" y="46268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$50/חודש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75120" y="4882896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Domain + misc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20640" y="48828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$10/חודש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75120" y="5138928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סה״כ infra שנתי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20640" y="513892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~₪4,600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960" y="411480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🏃 Runway של ₪1M → 18–24 חודש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43" name="Text 40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יולי 2026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סיכונים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מה יכול להשתבש — ואיך אנחנו עונים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603504"/>
          </a:xfrm>
          <a:prstGeom prst="roundRect">
            <a:avLst>
              <a:gd name="adj" fmla="val 7576"/>
            </a:avLst>
          </a:prstGeom>
          <a:solidFill>
            <a:srgbClr val="FFF5F5"/>
          </a:solidFill>
          <a:ln/>
        </p:spPr>
      </p:sp>
      <p:sp>
        <p:nvSpPr>
          <p:cNvPr id="5" name="Shape 3"/>
          <p:cNvSpPr/>
          <p:nvPr/>
        </p:nvSpPr>
        <p:spPr>
          <a:xfrm>
            <a:off x="11585448" y="1645920"/>
            <a:ext cx="54864" cy="6035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881360" y="1645920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0" y="1645920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תחרות מ-eToro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6858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First-mover בעברית; eToro מוגבל רגולטורית בחוויה חברתית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59152"/>
            <a:ext cx="11091672" cy="603504"/>
          </a:xfrm>
          <a:prstGeom prst="roundRect">
            <a:avLst>
              <a:gd name="adj" fmla="val 7576"/>
            </a:avLst>
          </a:prstGeom>
          <a:solidFill>
            <a:srgbClr val="FF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11585448" y="2359152"/>
            <a:ext cx="54864" cy="6035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10881360" y="2359152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0" y="2359152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רגולציית ייעוץ השקעות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2359152"/>
            <a:ext cx="6858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Disclaimer בכל עמוד · Terms · ללא המלצות פרטיות · ללא עסקאות אמיתיות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72384"/>
            <a:ext cx="11091672" cy="603504"/>
          </a:xfrm>
          <a:prstGeom prst="roundRect">
            <a:avLst>
              <a:gd name="adj" fmla="val 7576"/>
            </a:avLst>
          </a:prstGeom>
          <a:solidFill>
            <a:srgbClr val="FFF9E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85448" y="3072384"/>
            <a:ext cx="54864" cy="6035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10881360" y="3072384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80960" y="3072384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Acquisition יקר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3072384"/>
            <a:ext cx="6858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גל 4 ממוקד virality: OG sharing · widgets · referrals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85616"/>
            <a:ext cx="11091672" cy="603504"/>
          </a:xfrm>
          <a:prstGeom prst="roundRect">
            <a:avLst>
              <a:gd name="adj" fmla="val 7576"/>
            </a:avLst>
          </a:prstGeom>
          <a:solidFill>
            <a:srgbClr val="F4FAF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585448" y="3785616"/>
            <a:ext cx="54864" cy="603504"/>
          </a:xfrm>
          <a:prstGeom prst="rect">
            <a:avLst/>
          </a:prstGeom>
          <a:solidFill>
            <a:srgbClr val="00A884"/>
          </a:solidFill>
          <a:ln/>
        </p:spPr>
      </p:sp>
      <p:sp>
        <p:nvSpPr>
          <p:cNvPr id="21" name="Text 19"/>
          <p:cNvSpPr/>
          <p:nvPr/>
        </p:nvSpPr>
        <p:spPr>
          <a:xfrm>
            <a:off x="10881360" y="3785616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80960" y="3785616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Rate limits של ספקי נתונים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3785616"/>
            <a:ext cx="6858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Finnhub Premium ($50/m) · Yahoo fallback ב-dependencies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498848"/>
            <a:ext cx="11091672" cy="603504"/>
          </a:xfrm>
          <a:prstGeom prst="roundRect">
            <a:avLst>
              <a:gd name="adj" fmla="val 7576"/>
            </a:avLst>
          </a:prstGeom>
          <a:solidFill>
            <a:srgbClr val="FF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11585448" y="4498848"/>
            <a:ext cx="54864" cy="6035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10881360" y="4498848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🔴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80960" y="4498848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Churn אחרי onboarding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1520" y="4498848"/>
            <a:ext cx="6858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alerts + push + daily digest → סיבה לחזור כל יום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212080"/>
            <a:ext cx="11091672" cy="603504"/>
          </a:xfrm>
          <a:prstGeom prst="roundRect">
            <a:avLst>
              <a:gd name="adj" fmla="val 7576"/>
            </a:avLst>
          </a:prstGeom>
          <a:solidFill>
            <a:srgbClr val="FFF9E8"/>
          </a:solidFill>
          <a:ln/>
        </p:spPr>
      </p:sp>
      <p:sp>
        <p:nvSpPr>
          <p:cNvPr id="30" name="Shape 28"/>
          <p:cNvSpPr/>
          <p:nvPr/>
        </p:nvSpPr>
        <p:spPr>
          <a:xfrm>
            <a:off x="11585448" y="5212080"/>
            <a:ext cx="54864" cy="6035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10881360" y="5212080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🟠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80960" y="5212080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Key-person dependency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31520" y="5212080"/>
            <a:ext cx="6858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תיעוד מלא · code quality גבוהה · hiring Q3 2026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יולי 2026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D2E"/>
          </a:solidFill>
          <a:ln/>
        </p:spPr>
      </p:sp>
      <p:sp>
        <p:nvSpPr>
          <p:cNvPr id="3" name="Text 1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ASK · גיוס PRE-SEED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18895" y="86868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54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₪1,200,000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0" y="2103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E8F5F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פיתוח (CTO + full-stack)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03120" y="2148840"/>
            <a:ext cx="5394960" cy="274320"/>
          </a:xfrm>
          <a:prstGeom prst="roundRect">
            <a:avLst>
              <a:gd name="adj" fmla="val 13333"/>
            </a:avLst>
          </a:prstGeom>
          <a:solidFill>
            <a:srgbClr val="0C4A3A"/>
          </a:solidFill>
          <a:ln/>
        </p:spPr>
      </p:sp>
      <p:sp>
        <p:nvSpPr>
          <p:cNvPr id="7" name="Shape 5"/>
          <p:cNvSpPr/>
          <p:nvPr/>
        </p:nvSpPr>
        <p:spPr>
          <a:xfrm>
            <a:off x="2103120" y="2148840"/>
            <a:ext cx="5394960" cy="274320"/>
          </a:xfrm>
          <a:prstGeom prst="roundRect">
            <a:avLst>
              <a:gd name="adj" fmla="val 13333"/>
            </a:avLst>
          </a:prstGeom>
          <a:solidFill>
            <a:srgbClr val="00A884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21488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40%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₪480K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25603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E8F5F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שיווק (paid + influencers)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103120" y="2606040"/>
            <a:ext cx="5394960" cy="274320"/>
          </a:xfrm>
          <a:prstGeom prst="roundRect">
            <a:avLst>
              <a:gd name="adj" fmla="val 13333"/>
            </a:avLst>
          </a:prstGeom>
          <a:solidFill>
            <a:srgbClr val="0C4A3A"/>
          </a:solidFill>
          <a:ln/>
        </p:spPr>
      </p:sp>
      <p:sp>
        <p:nvSpPr>
          <p:cNvPr id="12" name="Shape 10"/>
          <p:cNvSpPr/>
          <p:nvPr/>
        </p:nvSpPr>
        <p:spPr>
          <a:xfrm>
            <a:off x="4800600" y="2606040"/>
            <a:ext cx="2697480" cy="274320"/>
          </a:xfrm>
          <a:prstGeom prst="roundRect">
            <a:avLst>
              <a:gd name="adj" fmla="val 13333"/>
            </a:avLst>
          </a:prstGeom>
          <a:solidFill>
            <a:srgbClr val="1A9EFF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26060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5603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₪240K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0" y="3017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E8F5F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נתונים (Finnhub + TASE)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103120" y="3063240"/>
            <a:ext cx="5394960" cy="274320"/>
          </a:xfrm>
          <a:prstGeom prst="roundRect">
            <a:avLst>
              <a:gd name="adj" fmla="val 13333"/>
            </a:avLst>
          </a:prstGeom>
          <a:solidFill>
            <a:srgbClr val="0C4A3A"/>
          </a:solidFill>
          <a:ln/>
        </p:spPr>
      </p:sp>
      <p:sp>
        <p:nvSpPr>
          <p:cNvPr id="17" name="Shape 15"/>
          <p:cNvSpPr/>
          <p:nvPr/>
        </p:nvSpPr>
        <p:spPr>
          <a:xfrm>
            <a:off x="5474970" y="3063240"/>
            <a:ext cx="2023110" cy="27432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5474970" y="3063240"/>
            <a:ext cx="20231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0175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₪180K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0" y="3474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E8F5F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תשתיות (Vercel + Supabase)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103120" y="3520440"/>
            <a:ext cx="5394960" cy="274320"/>
          </a:xfrm>
          <a:prstGeom prst="roundRect">
            <a:avLst>
              <a:gd name="adj" fmla="val 13333"/>
            </a:avLst>
          </a:prstGeom>
          <a:solidFill>
            <a:srgbClr val="0C4A3A"/>
          </a:solidFill>
          <a:ln/>
        </p:spPr>
      </p:sp>
      <p:sp>
        <p:nvSpPr>
          <p:cNvPr id="22" name="Shape 20"/>
          <p:cNvSpPr/>
          <p:nvPr/>
        </p:nvSpPr>
        <p:spPr>
          <a:xfrm>
            <a:off x="6149340" y="3520440"/>
            <a:ext cx="134874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149340" y="3520440"/>
            <a:ext cx="13487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4747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₪120K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0" y="3931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E8F5F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משפטי + רגולציה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103120" y="3977640"/>
            <a:ext cx="5394960" cy="274320"/>
          </a:xfrm>
          <a:prstGeom prst="roundRect">
            <a:avLst>
              <a:gd name="adj" fmla="val 13333"/>
            </a:avLst>
          </a:prstGeom>
          <a:solidFill>
            <a:srgbClr val="0C4A3A"/>
          </a:solidFill>
          <a:ln/>
        </p:spPr>
      </p:sp>
      <p:sp>
        <p:nvSpPr>
          <p:cNvPr id="27" name="Shape 25"/>
          <p:cNvSpPr/>
          <p:nvPr/>
        </p:nvSpPr>
        <p:spPr>
          <a:xfrm>
            <a:off x="6149340" y="3977640"/>
            <a:ext cx="1348740" cy="27432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6149340" y="3977640"/>
            <a:ext cx="13487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39319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₪120K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0" y="4389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E8F5F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רזרבה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103120" y="4434840"/>
            <a:ext cx="5394960" cy="274320"/>
          </a:xfrm>
          <a:prstGeom prst="roundRect">
            <a:avLst>
              <a:gd name="adj" fmla="val 13333"/>
            </a:avLst>
          </a:prstGeom>
          <a:solidFill>
            <a:srgbClr val="0C4A3A"/>
          </a:solidFill>
          <a:ln/>
        </p:spPr>
      </p:sp>
      <p:sp>
        <p:nvSpPr>
          <p:cNvPr id="32" name="Shape 30"/>
          <p:cNvSpPr/>
          <p:nvPr/>
        </p:nvSpPr>
        <p:spPr>
          <a:xfrm>
            <a:off x="6823710" y="4434840"/>
            <a:ext cx="674370" cy="274320"/>
          </a:xfrm>
          <a:prstGeom prst="roundRect">
            <a:avLst>
              <a:gd name="adj" fmla="val 13333"/>
            </a:avLst>
          </a:prstGeom>
          <a:solidFill>
            <a:srgbClr val="8A9CB8"/>
          </a:solidFill>
          <a:ln/>
        </p:spPr>
      </p:sp>
      <p:sp>
        <p:nvSpPr>
          <p:cNvPr id="33" name="Text 31"/>
          <p:cNvSpPr/>
          <p:nvPr/>
        </p:nvSpPr>
        <p:spPr>
          <a:xfrm>
            <a:off x="6823710" y="4434840"/>
            <a:ext cx="6743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43891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₪60K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029200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0C4A3A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65615" y="51389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🎯 עם ₪1.2M נגיע ל: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2960" y="548640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100K MAU תוך 18 חודשים</a:t>
            </a:r>
            <a:endParaRPr lang="en-US" sz="115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 Pro → ₪100K–300K ARR</a:t>
            </a:r>
            <a:endParaRPr lang="en-US" sz="115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TASE real-time (גל 7)</a:t>
            </a:r>
            <a:endParaRPr lang="en-US" sz="115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Runway 18–24 חודש עד Series A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40" name="Text 37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יולי 2026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למה עכשיו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 טרנדים מתכנסים ליצירת חלון הזדמנות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058607" y="1920240"/>
            <a:ext cx="3584448" cy="2286000"/>
          </a:xfrm>
          <a:prstGeom prst="roundRect">
            <a:avLst>
              <a:gd name="adj" fmla="val 4000"/>
            </a:avLst>
          </a:prstGeom>
          <a:solidFill>
            <a:srgbClr val="F4FAF8"/>
          </a:solidFill>
          <a:ln/>
        </p:spPr>
      </p:sp>
      <p:sp>
        <p:nvSpPr>
          <p:cNvPr id="5" name="Shape 3"/>
          <p:cNvSpPr/>
          <p:nvPr/>
        </p:nvSpPr>
        <p:spPr>
          <a:xfrm>
            <a:off x="11588191" y="1920240"/>
            <a:ext cx="54864" cy="2286000"/>
          </a:xfrm>
          <a:prstGeom prst="rect">
            <a:avLst/>
          </a:prstGeom>
          <a:solidFill>
            <a:srgbClr val="00A884"/>
          </a:solidFill>
          <a:ln/>
        </p:spPr>
      </p:sp>
      <p:sp>
        <p:nvSpPr>
          <p:cNvPr id="6" name="Shape 4"/>
          <p:cNvSpPr/>
          <p:nvPr/>
        </p:nvSpPr>
        <p:spPr>
          <a:xfrm>
            <a:off x="11350447" y="1773936"/>
            <a:ext cx="457200" cy="457200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7" name="Text 5"/>
          <p:cNvSpPr/>
          <p:nvPr/>
        </p:nvSpPr>
        <p:spPr>
          <a:xfrm>
            <a:off x="11350447" y="1773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41487" y="21031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🇮🇱 גאות משקיעים קמעונאיים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41487" y="2788920"/>
            <a:ext cx="3246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COVID פתח גל משקיעים חדשים · IBI + Interactive הכפילו חשבונות ב-4 שנים · Gen Z מתחיל לפני 25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64431" y="1920240"/>
            <a:ext cx="3584448" cy="2286000"/>
          </a:xfrm>
          <a:prstGeom prst="roundRect">
            <a:avLst>
              <a:gd name="adj" fmla="val 4000"/>
            </a:avLst>
          </a:prstGeom>
          <a:solidFill>
            <a:srgbClr val="F4FAF8"/>
          </a:solidFill>
          <a:ln/>
        </p:spPr>
      </p:sp>
      <p:sp>
        <p:nvSpPr>
          <p:cNvPr id="11" name="Shape 9"/>
          <p:cNvSpPr/>
          <p:nvPr/>
        </p:nvSpPr>
        <p:spPr>
          <a:xfrm>
            <a:off x="7894015" y="1920240"/>
            <a:ext cx="54864" cy="2286000"/>
          </a:xfrm>
          <a:prstGeom prst="rect">
            <a:avLst/>
          </a:prstGeom>
          <a:solidFill>
            <a:srgbClr val="00A884"/>
          </a:solidFill>
          <a:ln/>
        </p:spPr>
      </p:sp>
      <p:sp>
        <p:nvSpPr>
          <p:cNvPr id="12" name="Shape 10"/>
          <p:cNvSpPr/>
          <p:nvPr/>
        </p:nvSpPr>
        <p:spPr>
          <a:xfrm>
            <a:off x="7656271" y="1773936"/>
            <a:ext cx="457200" cy="457200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13" name="Text 11"/>
          <p:cNvSpPr/>
          <p:nvPr/>
        </p:nvSpPr>
        <p:spPr>
          <a:xfrm>
            <a:off x="7656271" y="1773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47311" y="21031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💻 Hebrew AI + דיגיטל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47311" y="2788920"/>
            <a:ext cx="3246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ChatGPT/Claude בעברית — מידע פיננסי זמין לראשונה · SEO פיננסי בעברית עדיין underserved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0255" y="1920240"/>
            <a:ext cx="3584448" cy="2286000"/>
          </a:xfrm>
          <a:prstGeom prst="roundRect">
            <a:avLst>
              <a:gd name="adj" fmla="val 4000"/>
            </a:avLst>
          </a:prstGeom>
          <a:solidFill>
            <a:srgbClr val="F4FAF8"/>
          </a:solidFill>
          <a:ln/>
        </p:spPr>
      </p:sp>
      <p:sp>
        <p:nvSpPr>
          <p:cNvPr id="17" name="Shape 15"/>
          <p:cNvSpPr/>
          <p:nvPr/>
        </p:nvSpPr>
        <p:spPr>
          <a:xfrm>
            <a:off x="4199839" y="1920240"/>
            <a:ext cx="54864" cy="2286000"/>
          </a:xfrm>
          <a:prstGeom prst="rect">
            <a:avLst/>
          </a:prstGeom>
          <a:solidFill>
            <a:srgbClr val="00A884"/>
          </a:solidFill>
          <a:ln/>
        </p:spPr>
      </p:sp>
      <p:sp>
        <p:nvSpPr>
          <p:cNvPr id="18" name="Shape 16"/>
          <p:cNvSpPr/>
          <p:nvPr/>
        </p:nvSpPr>
        <p:spPr>
          <a:xfrm>
            <a:off x="3962095" y="1773936"/>
            <a:ext cx="457200" cy="457200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19" name="Text 17"/>
          <p:cNvSpPr/>
          <p:nvPr/>
        </p:nvSpPr>
        <p:spPr>
          <a:xfrm>
            <a:off x="3962095" y="1773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3135" y="21031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📉 ירידת אמון בבנקים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53135" y="2788920"/>
            <a:ext cx="3246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המשקיע הצעיר לא סומך על יועץ מהבנק · מחפש peer-to-peer, שקיפות, תוכן גולמי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003D2E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663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🎯 חלון ההזדמנות: 2–3 שנים לפני שבנק ישראלי או eToro-בעברית ייכנסו.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בונה את ה-default הפיננסי של ישראל. עכשיו.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יולי 2026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D2E"/>
          </a:solidFill>
          <a:ln/>
        </p:spPr>
      </p:sp>
      <p:sp>
        <p:nvSpPr>
          <p:cNvPr id="3" name="Shape 1"/>
          <p:cNvSpPr/>
          <p:nvPr/>
        </p:nvSpPr>
        <p:spPr>
          <a:xfrm rot="2100000">
            <a:off x="8899855" y="-1463040"/>
            <a:ext cx="4572000" cy="4572000"/>
          </a:xfrm>
          <a:prstGeom prst="rect">
            <a:avLst/>
          </a:prstGeom>
          <a:solidFill>
            <a:srgbClr val="006B52"/>
          </a:solidFill>
          <a:ln/>
        </p:spPr>
      </p:sp>
      <p:sp>
        <p:nvSpPr>
          <p:cNvPr id="4" name="Shape 2"/>
          <p:cNvSpPr/>
          <p:nvPr/>
        </p:nvSpPr>
        <p:spPr>
          <a:xfrm>
            <a:off x="10911535" y="828339"/>
            <a:ext cx="73959" cy="177501"/>
          </a:xfrm>
          <a:prstGeom prst="rect">
            <a:avLst/>
          </a:prstGeom>
          <a:solidFill>
            <a:srgbClr val="C8FFE5"/>
          </a:solidFill>
          <a:ln/>
        </p:spPr>
      </p:sp>
      <p:sp>
        <p:nvSpPr>
          <p:cNvPr id="5" name="Shape 3"/>
          <p:cNvSpPr/>
          <p:nvPr/>
        </p:nvSpPr>
        <p:spPr>
          <a:xfrm>
            <a:off x="11003244" y="680421"/>
            <a:ext cx="73959" cy="325419"/>
          </a:xfrm>
          <a:prstGeom prst="rect">
            <a:avLst/>
          </a:prstGeom>
          <a:solidFill>
            <a:srgbClr val="C8FFE5"/>
          </a:solidFill>
          <a:ln/>
        </p:spPr>
      </p:sp>
      <p:sp>
        <p:nvSpPr>
          <p:cNvPr id="6" name="Shape 4"/>
          <p:cNvSpPr/>
          <p:nvPr/>
        </p:nvSpPr>
        <p:spPr>
          <a:xfrm>
            <a:off x="11094953" y="532504"/>
            <a:ext cx="73959" cy="473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453067" y="442570"/>
            <a:ext cx="1357884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253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</a:t>
            </a:r>
            <a:endParaRPr lang="en-US" sz="2530" dirty="0"/>
          </a:p>
        </p:txBody>
      </p:sp>
      <p:sp>
        <p:nvSpPr>
          <p:cNvPr id="8" name="Text 6"/>
          <p:cNvSpPr/>
          <p:nvPr/>
        </p:nvSpPr>
        <p:spPr>
          <a:xfrm>
            <a:off x="0" y="15544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600" b="1" spc="200" kern="0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דברו איתנו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205740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בואו נבנה את זה יחד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0" y="30175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E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176matan176@gmail.com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86888" y="3749040"/>
            <a:ext cx="6217920" cy="1554480"/>
          </a:xfrm>
          <a:prstGeom prst="roundRect">
            <a:avLst>
              <a:gd name="adj" fmla="val 5882"/>
            </a:avLst>
          </a:prstGeom>
          <a:solidFill>
            <a:srgbClr val="0C4A3A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86888" y="38862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🚀 Demo חי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86888" y="4251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986888" y="48463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E8F5F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מודל פיננסי מלא ונתונים נוספים — זמינים לפי בקשה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100" i="1" dirty="0">
                <a:solidFill>
                  <a:srgbClr val="8A9C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תודה · תשואה · יולי 2026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יולי 2026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נספח א׳ · TECHNICAL MOAT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למה קשה לחקות אותנו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4FAF8"/>
          </a:solidFill>
          <a:ln/>
        </p:spPr>
      </p:sp>
      <p:sp>
        <p:nvSpPr>
          <p:cNvPr id="5" name="Shape 3"/>
          <p:cNvSpPr/>
          <p:nvPr/>
        </p:nvSpPr>
        <p:spPr>
          <a:xfrm>
            <a:off x="11585448" y="1691640"/>
            <a:ext cx="54864" cy="7498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10927080" y="1856232"/>
            <a:ext cx="420624" cy="42062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10927080" y="18562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0" y="180136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מילון עברי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801368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30+ מונחים פיננסיים, הסברים שנכתבו ידנית בהקשר ישראלי. לא תרגום — Curation.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4FAF8"/>
          </a:solidFill>
          <a:ln/>
        </p:spPr>
      </p:sp>
      <p:sp>
        <p:nvSpPr>
          <p:cNvPr id="11" name="Shape 9"/>
          <p:cNvSpPr/>
          <p:nvPr/>
        </p:nvSpPr>
        <p:spPr>
          <a:xfrm>
            <a:off x="11585448" y="2560320"/>
            <a:ext cx="54864" cy="7498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27080" y="2724912"/>
            <a:ext cx="420624" cy="42062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27080" y="2724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0" y="267004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Composer עברי-first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670048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אכיפת 80%+ עברית · זיהוי tickers אוטומטי · מונע ספאם.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4FAF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585448" y="3429000"/>
            <a:ext cx="54864" cy="7498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27080" y="3593592"/>
            <a:ext cx="420624" cy="42062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10927080" y="35935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0" y="353872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Sector Mapping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3538728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SPDR ETF → שם סקטור עברי → top stocks. תבניות מותאמות ישראלית.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29768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4FAF8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85448" y="4297680"/>
            <a:ext cx="54864" cy="7498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927080" y="4462272"/>
            <a:ext cx="420624" cy="42062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10927080" y="44622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0" y="440740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Macro Fusion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4407408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FRED (US) + בנק ישראל (IL) + frankfurter (FX). הרכבה אחת, אין מתחרה.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16636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4FAF8"/>
          </a:solidFill>
          <a:ln/>
        </p:spPr>
      </p:sp>
      <p:sp>
        <p:nvSpPr>
          <p:cNvPr id="29" name="Shape 27"/>
          <p:cNvSpPr/>
          <p:nvPr/>
        </p:nvSpPr>
        <p:spPr>
          <a:xfrm>
            <a:off x="11585448" y="5166360"/>
            <a:ext cx="54864" cy="7498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27080" y="5330952"/>
            <a:ext cx="420624" cy="42062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10927080" y="53309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29600" y="527608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SSG at build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" y="5276088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31 עמודים סטטיים עם quotes דינמיים. ביצועי-על ללא עלות infrastructure.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יולי 2026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נספח ב׳ · השוואה ל-STOCKTWITS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היריב הקרוב ביותר — אקזיט $210M ב-2023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מדד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StockTwits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תשואה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שפה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אנגלית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עברית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משתמשים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6M גלובלי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0→30K יעד IL שנה 1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נתוני מניה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Basic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Full + Tooltips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Portfolio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—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✓ וירטואלי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Compare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—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✓ 4 מניות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Sectors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—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✓ GICS heatmap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Macro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—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✓ IL + US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מילון פיננסי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—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✓ 30+ מונחים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פריסה ישראלית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—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✓ TEVA · NICE · CHKP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83080"/>
            <a:ext cx="3840480" cy="3383280"/>
          </a:xfrm>
          <a:prstGeom prst="roundRect">
            <a:avLst>
              <a:gd name="adj" fmla="val 2703"/>
            </a:avLst>
          </a:prstGeom>
          <a:solidFill>
            <a:srgbClr val="FFF9E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1965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💡 תובנה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55280" y="24688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StockTwits הוכיח שה-model עובד — אקזיט של $210M.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55280" y="35661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= StockTwits + 5 פיצ׳רים, בעברית, עם יתרון first-mover בשוק של 9 מיליון איש.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11" name="Text 7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יולי 2026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Tsua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תשואה</dc:creator>
  <cp:lastModifiedBy>תשואה</cp:lastModifiedBy>
  <cp:revision>1</cp:revision>
  <dcterms:created xsi:type="dcterms:W3CDTF">2026-07-12T10:05:09Z</dcterms:created>
  <dcterms:modified xsi:type="dcterms:W3CDTF">2026-07-12T10:05:09Z</dcterms:modified>
</cp:coreProperties>
</file>