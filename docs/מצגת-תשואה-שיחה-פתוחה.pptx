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 אישית: תודה שאת מקדישה זמן. בניתי מוצר חי — רשת חברתית לשוק ההון בעברית — ואני רוצה להראות לך אותו כמו שהוא, כולל הקשיים, ולשמוע ממך איך הופכים אותו למשהו גדול.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הבעיה מהחיים שלי: כמשקיע ישראלי אני פותח חמישה מסכים כל בוקר. הכל מפוצל, באנגלית, וה-WhatsApp מלא רעש. אין מקום אחד בעברית שמרכז דאטה + קהילה.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הפתרון בארבעה עמודים: דאטה חי שמתעדכן כל 2 שניות, פיד חברתי עם תיוג וסנטימנט, ליגת אנליסטים, ו-PWA. ההבדל — הכל מחובר להכל: פוסטים לדאטה, מניות לקהילה, והחוויה חיה ונושמת.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המוצר חי בפרודקשן, לא במצגת. 30 עמודים, 46 API, 61 רכיבים, 120 קומיטים — מספרים אמיתיים מהריפו הבוקר. שישה מודולים מלאים. הכל עברית, RTL, שתי ערכות נושא, אפס נתונים מזויפים.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שקף המומנטום: רק בשבועיים האחרונים — 25 קומיטים. מערכת ערכות נושא, חוויית ״נשימה״, תיקוני עומק שנמצאו בסריקות שיטתיות, הקשחת אבטחה ותשתית מקצועית. הכל סולו בעזרת פיתוח מבוסס AI — נקודה שכדאי לדון בה: זה מכפיל כוח אמיתי.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הסביבה: אתרי חדשות בלי קהילה, ברוקרים בלי חוויה, פלטפורמות גלובליות בלי עברית ות״א, וקהילות וואטסאפ בלי דאטה. הצומת דאטה-קהילה-עברית פנוי. זה המקום שבו StockTwits צמח בארה״ב.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שקף הכנות: חמישה אתגרים אמיתיים. הגדול ביותר — קהילה ריקה והפצה. אחר כך רגולציה, העובדה שאני לבד, ועלויות דאטה בסקייל. אני לא מסתיר כלום — בדיוק בגלל זה השיחה הזאת.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הלאה: מדיה עשירה כבר מאופיינת עם תוכנית עבודה. חודש קרוב — מוכנות להשקה: דומיין, ניטור, משפטי. ברבעון — ניתוחים מובנים שהופכים את הליגה למבוססת תוצאות אמיתיות. ואז צמיחה. העיקרון: מוצר מלא לפני קהל.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הבקשה — לא כסף: (1) שעה של פידבק בלתי מרוחם על המוצר, ברמה של Apple. (2) שתיים-שלוש היכרויות מדויקות עם אנשי פרודקט/גרות׳ או פינטק. (3) מנטורשיפ קל — 30 דקות בחודש. (4) והתשובה הכנה: מה היית עושה קודם במקומי.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דמו חי — חמישה עצירות: דף הבית עם הבאנר החי, מתג כהה/בהיר, עמוד מניה של טבע, מסך השווקים עם מפת החום, והליגה. לתת לה להקליק בעצמה אם היא רוצה — המוצר עומד בזה.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איך זה נבנה: אני מגדיר וה-AI מבצע תחת בקרה — עם אפיונים כתובים, בדיקות שיטתיות ותיעוד שנשמר. וגם נקודת שיחה מקצועית בשבילה: מקרה בוחן חי של solo+AI. איפה השיטה נשברת? אשמח לדעתה.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סיום: תודה. ועכשיו הכי חשוב — לשמוע מה היא באמת חושבת. לפתוח את הלפטופ ולתת לה את המוצר לידיים.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D2E"/>
          </a:solidFill>
          <a:ln/>
        </p:spPr>
      </p:sp>
      <p:sp>
        <p:nvSpPr>
          <p:cNvPr id="3" name="Shape 1"/>
          <p:cNvSpPr/>
          <p:nvPr/>
        </p:nvSpPr>
        <p:spPr>
          <a:xfrm rot="2280000">
            <a:off x="8351215" y="-1828800"/>
            <a:ext cx="5486400" cy="5486400"/>
          </a:xfrm>
          <a:prstGeom prst="rect">
            <a:avLst/>
          </a:prstGeom>
          <a:solidFill>
            <a:srgbClr val="006B52"/>
          </a:solidFill>
          <a:ln/>
        </p:spPr>
      </p:sp>
      <p:sp>
        <p:nvSpPr>
          <p:cNvPr id="4" name="Shape 2"/>
          <p:cNvSpPr/>
          <p:nvPr/>
        </p:nvSpPr>
        <p:spPr>
          <a:xfrm rot="1800000">
            <a:off x="-2011680" y="4846320"/>
            <a:ext cx="4572000" cy="4572000"/>
          </a:xfrm>
          <a:prstGeom prst="rect">
            <a:avLst/>
          </a:prstGeom>
          <a:solidFill>
            <a:srgbClr val="0A5240"/>
          </a:solidFill>
          <a:ln/>
        </p:spPr>
      </p:sp>
      <p:sp>
        <p:nvSpPr>
          <p:cNvPr id="5" name="Shape 3"/>
          <p:cNvSpPr/>
          <p:nvPr/>
        </p:nvSpPr>
        <p:spPr>
          <a:xfrm>
            <a:off x="10820095" y="869756"/>
            <a:ext cx="83372" cy="200092"/>
          </a:xfrm>
          <a:prstGeom prst="rect">
            <a:avLst/>
          </a:prstGeom>
          <a:solidFill>
            <a:srgbClr val="C8FFE5"/>
          </a:solidFill>
          <a:ln/>
        </p:spPr>
      </p:sp>
      <p:sp>
        <p:nvSpPr>
          <p:cNvPr id="6" name="Shape 4"/>
          <p:cNvSpPr/>
          <p:nvPr/>
        </p:nvSpPr>
        <p:spPr>
          <a:xfrm>
            <a:off x="10923476" y="703012"/>
            <a:ext cx="83372" cy="366836"/>
          </a:xfrm>
          <a:prstGeom prst="rect">
            <a:avLst/>
          </a:prstGeom>
          <a:solidFill>
            <a:srgbClr val="C8FFE5"/>
          </a:solidFill>
          <a:ln/>
        </p:spPr>
      </p:sp>
      <p:sp>
        <p:nvSpPr>
          <p:cNvPr id="7" name="Shape 5"/>
          <p:cNvSpPr/>
          <p:nvPr/>
        </p:nvSpPr>
        <p:spPr>
          <a:xfrm>
            <a:off x="11026857" y="536269"/>
            <a:ext cx="83372" cy="5335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76004" y="434889"/>
            <a:ext cx="1530706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2852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</a:t>
            </a:r>
            <a:endParaRPr lang="en-US" sz="2852" dirty="0"/>
          </a:p>
        </p:txBody>
      </p:sp>
      <p:sp>
        <p:nvSpPr>
          <p:cNvPr id="9" name="Text 7"/>
          <p:cNvSpPr/>
          <p:nvPr/>
        </p:nvSpPr>
        <p:spPr>
          <a:xfrm>
            <a:off x="3779215" y="18288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3779215" y="3200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500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הרשת החברתית של המשקיע הישראלי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779215" y="3931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בניתי מוצר חי — ובאתי לשמוע ממך איך הופכים אותו למשהו גדול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90895" y="4754880"/>
            <a:ext cx="5852160" cy="640080"/>
          </a:xfrm>
          <a:prstGeom prst="roundRect">
            <a:avLst>
              <a:gd name="adj" fmla="val 8571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82335" y="47548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״השוק מדבר כל היום, כל יום — רק לא בעברית, עד עכשיו״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79215" y="5806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שיחה פתוחה · יולי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0255" y="5806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C8F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tsua-rho.vercel.app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שיחה פתוחה · יולי 2026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הבעיה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משקיע ישראלי פותח 5 מסכים כל בוקר</a:t>
            </a:r>
            <a:endParaRPr lang="en-US" sz="2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9535" y="1828800"/>
          <a:ext cx="53035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01168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⏰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איפה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למה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08:15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Twitter / X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$TEVA, $NVDA — מה קורה?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08:30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Yahoo Finance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פרימרקט, נפחים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09:00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 קבוצות WhatsApp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דעות, פאניקה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09:45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TradingView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גרפים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10:00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Globes / TheMarker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חדשות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82880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5F5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הכאב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חמש אפליקציות, הקשר אחד</a:t>
            </a:r>
            <a:endParaRPr lang="en-US" sz="12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כולן באנגלית או בתרגום עלוב</a:t>
            </a:r>
            <a:endParaRPr lang="en-US" sz="12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WhatsApp: ספאם, בלי חיפוש, בלי זיכרון</a:t>
            </a:r>
            <a:endParaRPr lang="en-US" sz="12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אין דרך לדעת מה הקהל הישראלי חושב</a:t>
            </a:r>
            <a:endParaRPr lang="en-US" sz="120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מתחילים מרגישים טיפשים — המונחים לא נגישים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48006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03D2E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8006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אין בישראל פלטפורמה אחת, חברתית, בעברית — שמאחדת את הכל.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12" name="Text 8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שיחה פתוחה · יולי 2026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הפתרון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פלטפורמה חברתית אחת, עברית תחילה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18895" y="15544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 הנתונים, כל הדיון, כל השוק — במקום אחד, בעברית טבעית, בזמן אמת.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45575" y="205740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45575" y="22219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30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📊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037015" y="2834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דאטה חי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082735" y="32918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תל אביב, ארה״ב וקריפטו — מחירים, סקטורים ומאקרו, מתעדכן כל שתי שניות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38367" y="205740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38367" y="22219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30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💬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29807" y="2834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פיד חברתי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75527" y="32918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פוסטים עם תיוג מניות, סנטימנט שורי או דובי, תגובות ועוקבים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1159" y="205740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1159" y="22219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30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🏆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22599" y="2834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ליגת אנליסטים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68319" y="32918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דירוג קהילתי לפי פעילות ואיכות — גיימיפיקציה שמחזיקה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3951" y="205740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" y="22219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30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📱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5391" y="28346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מותקן כמו אפליקציה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1111" y="329184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בלי חנויות אפליקציות — ישר מהדפדפן, למסך הבית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9E8"/>
          </a:solidFill>
          <a:ln/>
        </p:spPr>
      </p:sp>
      <p:sp>
        <p:nvSpPr>
          <p:cNvPr id="22" name="Text 20"/>
          <p:cNvSpPr/>
          <p:nvPr/>
        </p:nvSpPr>
        <p:spPr>
          <a:xfrm>
            <a:off x="9539935" y="45537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✨ ההבדל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8920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 פוסט מזהה מניות אוטומטית ומתחבר לדאטה חי</a:t>
            </a:r>
            <a:endParaRPr lang="en-US" sz="12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 מניה מציגה מה הקהילה חושבת עליה עכשיו</a:t>
            </a:r>
            <a:endParaRPr lang="en-US" sz="12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והכל מרגיש חי — מחירים מהבהבים ונושמים כמו באפליקציית מסחר אמיתית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6" name="Text 23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שיחה פתוחה · יולי 2026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המוצר היום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חי בפרודקשן — מספרים אמיתיים מהריפו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850831" y="1600200"/>
            <a:ext cx="1792224" cy="1051560"/>
          </a:xfrm>
          <a:prstGeom prst="roundRect">
            <a:avLst>
              <a:gd name="adj" fmla="val 8696"/>
            </a:avLst>
          </a:prstGeom>
          <a:solidFill>
            <a:srgbClr val="00A884"/>
          </a:solidFill>
          <a:ln/>
          <a:effectLst>
            <a:outerShdw sx="100000" sy="100000" kx="0" ky="0" algn="bl" rotWithShape="0" blurRad="76200" dist="25400" dir="16200000">
              <a:srgbClr val="9FE3CF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50831" y="1728216"/>
            <a:ext cx="179222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896551" y="2252167"/>
            <a:ext cx="1700784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עמודי מוצר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022031" y="1600200"/>
            <a:ext cx="1792224" cy="1051560"/>
          </a:xfrm>
          <a:prstGeom prst="roundRect">
            <a:avLst>
              <a:gd name="adj" fmla="val 8696"/>
            </a:avLst>
          </a:prstGeom>
          <a:solidFill>
            <a:srgbClr val="00A884"/>
          </a:solidFill>
          <a:ln/>
          <a:effectLst>
            <a:outerShdw sx="100000" sy="100000" kx="0" ky="0" algn="bl" rotWithShape="0" blurRad="76200" dist="25400" dir="16200000">
              <a:srgbClr val="9FE3CF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22031" y="1728216"/>
            <a:ext cx="179222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67751" y="2252167"/>
            <a:ext cx="1700784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endpoints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93231" y="1600200"/>
            <a:ext cx="1792224" cy="1051560"/>
          </a:xfrm>
          <a:prstGeom prst="roundRect">
            <a:avLst>
              <a:gd name="adj" fmla="val 8696"/>
            </a:avLst>
          </a:prstGeom>
          <a:solidFill>
            <a:srgbClr val="00A884"/>
          </a:solidFill>
          <a:ln/>
          <a:effectLst>
            <a:outerShdw sx="100000" sy="100000" kx="0" ky="0" algn="bl" rotWithShape="0" blurRad="76200" dist="25400" dir="16200000">
              <a:srgbClr val="9FE3CF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3231" y="1728216"/>
            <a:ext cx="179222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38951" y="2252167"/>
            <a:ext cx="1700784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רכיבי React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64431" y="1600200"/>
            <a:ext cx="1792224" cy="1051560"/>
          </a:xfrm>
          <a:prstGeom prst="roundRect">
            <a:avLst>
              <a:gd name="adj" fmla="val 8696"/>
            </a:avLst>
          </a:prstGeom>
          <a:solidFill>
            <a:srgbClr val="00A884"/>
          </a:solidFill>
          <a:ln/>
          <a:effectLst>
            <a:outerShdw sx="100000" sy="100000" kx="0" ky="0" algn="bl" rotWithShape="0" blurRad="76200" dist="25400" dir="16200000">
              <a:srgbClr val="9FE3CF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64431" y="1728216"/>
            <a:ext cx="179222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120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410151" y="2252167"/>
            <a:ext cx="1700784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קומיטים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35631" y="1600200"/>
            <a:ext cx="1792224" cy="1051560"/>
          </a:xfrm>
          <a:prstGeom prst="roundRect">
            <a:avLst>
              <a:gd name="adj" fmla="val 8696"/>
            </a:avLst>
          </a:prstGeom>
          <a:solidFill>
            <a:srgbClr val="00A884"/>
          </a:solidFill>
          <a:ln/>
          <a:effectLst>
            <a:outerShdw sx="100000" sy="100000" kx="0" ky="0" algn="bl" rotWithShape="0" blurRad="76200" dist="25400" dir="16200000">
              <a:srgbClr val="9FE3CF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35631" y="1728216"/>
            <a:ext cx="179222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581351" y="2252167"/>
            <a:ext cx="1700784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עברית + אנגלית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6831" y="1600200"/>
            <a:ext cx="1792224" cy="1051560"/>
          </a:xfrm>
          <a:prstGeom prst="roundRect">
            <a:avLst>
              <a:gd name="adj" fmla="val 8696"/>
            </a:avLst>
          </a:prstGeom>
          <a:solidFill>
            <a:srgbClr val="00A884"/>
          </a:solidFill>
          <a:ln/>
          <a:effectLst>
            <a:outerShdw sx="100000" sy="100000" kx="0" ky="0" algn="bl" rotWithShape="0" blurRad="76200" dist="25400" dir="16200000">
              <a:srgbClr val="9FE3CF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6831" y="1728216"/>
            <a:ext cx="179222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52551" y="2252167"/>
            <a:ext cx="1700784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ערכות נושא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🧩 מודול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מה זה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פיד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פוסטים, סנטימנט, תיוג מניות, תמונות, שרשורים — בזמן אמת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שווקים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מדדים, מפת חום סקטורים, מט״ח, מאקרו, מדד פחד וחמדנות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עמוד מניה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גרף, נתונים, חדשות, סנטימנט קהילה, דיון, מבנה בעלויות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ליגה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דירוג אנליסטים קהילתי עם פודיום ותגים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קריפטו ודוחות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מטבעות מובילים בזמן אמת, לוח דוחות רבעוני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התראות ואפליקציה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התראות מחיר, נוטיפיקציות, התקנה למסך הבית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48640" y="566928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עברית מלאה ✓     מצב כהה ובהיר ✓     נגישות ✓     אפס דאטה מזויף ✓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7" name="Text 23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שיחה פתוחה · יולי 2026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מומנטום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קרה רק בשבועיים האחרונים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18895" y="14173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עשרים וחמישה קומיטים לפרודקשן, בין השאר: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048695" y="1837944"/>
            <a:ext cx="502920" cy="502920"/>
          </a:xfrm>
          <a:prstGeom prst="ellipse">
            <a:avLst/>
          </a:prstGeom>
          <a:solidFill>
            <a:srgbClr val="E8F5F0"/>
          </a:solidFill>
          <a:ln w="19050">
            <a:solidFill>
              <a:srgbClr val="00A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8695" y="18562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13455" y="176479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מערכת ערכות נושא מלאה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0255" y="2112264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מיגרציה של כאלף וחצי צבעים קשיחים לטוקני עיצוב — מצב בהיר וכהה מושלם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048695" y="2606040"/>
            <a:ext cx="502920" cy="502920"/>
          </a:xfrm>
          <a:prstGeom prst="ellipse">
            <a:avLst/>
          </a:prstGeom>
          <a:solidFill>
            <a:srgbClr val="E8F5F0"/>
          </a:solidFill>
          <a:ln w="19050">
            <a:solidFill>
              <a:srgbClr val="00A8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48695" y="26243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13455" y="253288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המוצר ״נושם״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70255" y="288036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מחירים מהבהבים, מספרים קופצים, אינדיקטורים חיים — כמו אפליקציית מסחר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048695" y="3374136"/>
            <a:ext cx="502920" cy="502920"/>
          </a:xfrm>
          <a:prstGeom prst="ellipse">
            <a:avLst/>
          </a:prstGeom>
          <a:solidFill>
            <a:srgbClr val="E8F5F0"/>
          </a:solidFill>
          <a:ln w="19050">
            <a:solidFill>
              <a:srgbClr val="00A8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48695" y="33924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🐛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13455" y="3300984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תיקוני עומק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70255" y="3648456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פרופילים, חיפוש משתמשים וליגה היו שבורים בפרודקשן — אותרו בסריקה שיטתית ותוקנו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048695" y="4142232"/>
            <a:ext cx="502920" cy="502920"/>
          </a:xfrm>
          <a:prstGeom prst="ellipse">
            <a:avLst/>
          </a:prstGeom>
          <a:solidFill>
            <a:srgbClr val="E8F5F0"/>
          </a:solidFill>
          <a:ln w="19050">
            <a:solidFill>
              <a:srgbClr val="00A8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48695" y="41605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13455" y="40690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הקשחת אבטחה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70255" y="4416552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אימות הרשאות בבסיס הנתונים, חסימת פרצות הזרקה, ולידציית העלאות — לפני שמזמינים קהל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048695" y="4910328"/>
            <a:ext cx="502920" cy="502920"/>
          </a:xfrm>
          <a:prstGeom prst="ellipse">
            <a:avLst/>
          </a:prstGeom>
          <a:solidFill>
            <a:srgbClr val="E8F5F0"/>
          </a:solidFill>
          <a:ln w="19050">
            <a:solidFill>
              <a:srgbClr val="00A8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48695" y="49286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🛠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13455" y="4837176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תשתית מקצועית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70255" y="518464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צנרת פריסה מסודרת, תיעוד מלא, וכלי בדיקה אוטומטיים לניגודיות, בריאות וסכמה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62356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FFF9E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62356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⚡ הכל סולו, בעזרת פיתוח מבוסס בינה מלאכותית — נקודת חוזק שאשמח לפרט עליה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9" name="Text 26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שיחה פתוחה · יולי 2026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הסביבה התחרותית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כולם עושים חלק. אף אחד לא מחבר.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926080"/>
                <a:gridCol w="4873752"/>
              </a:tblGrid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שחקן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מה הוא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מה חסר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Bizportal / Globes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חדשות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חד-כיווני, אין קהילה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ברוקרים (IBI, מיטב)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מסחר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UI כבד, לא חברתי, לא מלמד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StockTwits / eToro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פיד גלובלי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אנגלית, בלי ת״א, לא ישראלי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TradingView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גרפים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למקצוענים, באנגלית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Telegram / WhatsApp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הקהילה בפועל היום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ספאם, בלי דאטה, בלי חיפוש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8056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003D2E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617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המקום הפנוי: הצומת שבין דאטה ↔ קהילה ↔ עברית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זה בדיוק המקום שבו StockTwits צמח בארה״ב — ואין לו מקבילה ישראלית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10" name="Text 6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שיחה פתוחה · יולי 2026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על השולחן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האתגרים האמיתיים — בלי לייפות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694944"/>
          </a:xfrm>
          <a:prstGeom prst="roundRect">
            <a:avLst>
              <a:gd name="adj" fmla="val 6579"/>
            </a:avLst>
          </a:prstGeom>
          <a:solidFill>
            <a:srgbClr val="FFF5F5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1691640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52360" y="1691640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קהילה ריקה (Cold Start)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6629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המוצר בנוי, אבל רשת חברתית בלי אנשים היא עיר רפאים. זה האתגר המרכזי.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11091672" cy="694944"/>
          </a:xfrm>
          <a:prstGeom prst="roundRect">
            <a:avLst>
              <a:gd name="adj" fmla="val 6579"/>
            </a:avLst>
          </a:prstGeom>
          <a:solidFill>
            <a:srgbClr val="FFF5F5"/>
          </a:solidFill>
          <a:ln/>
        </p:spPr>
      </p:sp>
      <p:sp>
        <p:nvSpPr>
          <p:cNvPr id="9" name="Text 7"/>
          <p:cNvSpPr/>
          <p:nvPr/>
        </p:nvSpPr>
        <p:spPr>
          <a:xfrm>
            <a:off x="10881360" y="2496312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📣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52360" y="2496312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הפצה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496312"/>
            <a:ext cx="6629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אין לי היום ערוץ הפצה — לא קהל, לא ניוזלטר, לא שותפויות.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300984"/>
            <a:ext cx="11091672" cy="694944"/>
          </a:xfrm>
          <a:prstGeom prst="roundRect">
            <a:avLst>
              <a:gd name="adj" fmla="val 6579"/>
            </a:avLst>
          </a:prstGeom>
          <a:solidFill>
            <a:srgbClr val="FFF9E8"/>
          </a:solidFill>
          <a:ln/>
        </p:spPr>
      </p:sp>
      <p:sp>
        <p:nvSpPr>
          <p:cNvPr id="13" name="Text 11"/>
          <p:cNvSpPr/>
          <p:nvPr/>
        </p:nvSpPr>
        <p:spPr>
          <a:xfrm>
            <a:off x="10881360" y="3300984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⚖️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52360" y="3300984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רגולציה ומשפט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300984"/>
            <a:ext cx="6629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דיסקליימרים קיימים, אבל צריך ליווי אמיתי: ייעוץ השקעות, פרטיות, נגישות.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05656"/>
            <a:ext cx="11091672" cy="694944"/>
          </a:xfrm>
          <a:prstGeom prst="roundRect">
            <a:avLst>
              <a:gd name="adj" fmla="val 6579"/>
            </a:avLst>
          </a:prstGeom>
          <a:solidFill>
            <a:srgbClr val="FFF9E8"/>
          </a:solidFill>
          <a:ln/>
        </p:spPr>
      </p:sp>
      <p:sp>
        <p:nvSpPr>
          <p:cNvPr id="17" name="Text 15"/>
          <p:cNvSpPr/>
          <p:nvPr/>
        </p:nvSpPr>
        <p:spPr>
          <a:xfrm>
            <a:off x="10881360" y="4105656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52360" y="4105656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באס-פקטור של 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105656"/>
            <a:ext cx="6629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אני לבד. זה מהיר — אבל שביר. מתועד היטב, ועדיין.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910328"/>
            <a:ext cx="11091672" cy="694944"/>
          </a:xfrm>
          <a:prstGeom prst="roundRect">
            <a:avLst>
              <a:gd name="adj" fmla="val 6579"/>
            </a:avLst>
          </a:prstGeom>
          <a:solidFill>
            <a:srgbClr val="F4FAF8"/>
          </a:solidFill>
          <a:ln/>
        </p:spPr>
      </p:sp>
      <p:sp>
        <p:nvSpPr>
          <p:cNvPr id="21" name="Text 19"/>
          <p:cNvSpPr/>
          <p:nvPr/>
        </p:nvSpPr>
        <p:spPr>
          <a:xfrm>
            <a:off x="10881360" y="4910328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52360" y="4910328"/>
            <a:ext cx="3337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עלויות דאטה בסקייל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910328"/>
            <a:ext cx="6629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היום כמעט חינם; ב-10K משתמשים פעילים ספקי הדאטה מתחילים לעלות כסף אמיתי.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11091672" cy="384048"/>
          </a:xfrm>
          <a:prstGeom prst="roundRect">
            <a:avLst>
              <a:gd name="adj" fmla="val 11905"/>
            </a:avLst>
          </a:prstGeom>
          <a:solidFill>
            <a:srgbClr val="E8F5F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806440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בדיוק בגלל הרשימה הזאת רציתי לדבר איתך 👇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8" name="Text 25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שיחה פתוחה · יולי 2026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הלאה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התוכנית לרבעון הקרוב — כבר מאופיינת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945575" y="178308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9E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82735" y="1920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spc="100" kern="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עכשיו · מוכן לביצוע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082735" y="2240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מדיה עשירה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082735" y="2834640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עד ארבע תמונות בפוסט</a:t>
            </a:r>
            <a:endParaRPr lang="en-US" sz="12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חיפוש גיפים מובנה</a:t>
            </a:r>
            <a:endParaRPr lang="en-US" sz="12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אפיון ותוכנית עבודה כתובים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38367" y="178308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75527" y="1920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spc="100" kern="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חודש הקרוב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75527" y="2240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מוכנות להשקה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75527" y="2834640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דומיין וניטור שגיאות</a:t>
            </a:r>
            <a:endParaRPr lang="en-US" sz="12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נגישות וחבילה משפטית</a:t>
            </a:r>
            <a:endParaRPr lang="en-US" sz="12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ניקוי משתמשי בדיקה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31159" y="178308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8319" y="1920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spc="100" kern="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רבעון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68319" y="2240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ניתוחים מובנים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68319" y="2834640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מחיר יעד, טווח זמן, ביטחון</a:t>
            </a:r>
            <a:endParaRPr lang="en-US" sz="12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מעקב דיוק אנליסטים אמיתי</a:t>
            </a:r>
            <a:endParaRPr lang="en-US" sz="12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הליגה הופכת מבוססת-תוצאות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23951" y="178308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" y="1920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spc="100" kern="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רבעון+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1111" y="2240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צמיחה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1111" y="2834640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הזמנות ושיתופים ויראליים</a:t>
            </a:r>
            <a:endParaRPr lang="en-US" sz="12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קהילות נושא לפי סקטורים</a:t>
            </a:r>
            <a:endParaRPr lang="en-US" sz="1250" dirty="0"/>
          </a:p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שת״פ עם קהילות קיימות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003D2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492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העיקרון: קודם מוצר שמרגיש מלא ובטוח — ואז מביאים קהל. לא הפוך.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שיחה פתוחה · יולי 2026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D2E"/>
          </a:solidFill>
          <a:ln/>
        </p:spPr>
      </p:sp>
      <p:sp>
        <p:nvSpPr>
          <p:cNvPr id="3" name="Text 1"/>
          <p:cNvSpPr/>
          <p:nvPr/>
        </p:nvSpPr>
        <p:spPr>
          <a:xfrm>
            <a:off x="1218895" y="6400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אני מבקש ממך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218895" y="14630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לא כסף — ניסיון, חדות, ודלתות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2313432"/>
            <a:ext cx="493776" cy="493776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0" y="231343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2221992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שעה של פידבק בלתי מרוחם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551176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עברי איתי על המוצר כמו על מוצר של אפל — מה זול? מה מבלבל? מה היית זורקת?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081528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246120"/>
            <a:ext cx="493776" cy="493776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12" name="Text 10"/>
          <p:cNvSpPr/>
          <p:nvPr/>
        </p:nvSpPr>
        <p:spPr>
          <a:xfrm>
            <a:off x="10607040" y="324612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315468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שתיים-שלוש היכרויות מדויקות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483864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אנשי מוצר וצמיחה שבנו קהילות, או מישהו מעולם הפינטק וההשקעות הישראלי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014216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0" y="4178808"/>
            <a:ext cx="493776" cy="493776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17" name="Text 15"/>
          <p:cNvSpPr/>
          <p:nvPr/>
        </p:nvSpPr>
        <p:spPr>
          <a:xfrm>
            <a:off x="10607040" y="41788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408736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מנטורשיפ קל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416552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שיחה של חצי שעה, אחת לחודש-חודשיים — כיוון, לא ליווי צמוד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946904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0" y="5111496"/>
            <a:ext cx="493776" cy="493776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22" name="Text 20"/>
          <p:cNvSpPr/>
          <p:nvPr/>
        </p:nvSpPr>
        <p:spPr>
          <a:xfrm>
            <a:off x="10607040" y="511149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502005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התשובה הכנה לשאלה אחת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5349240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אם זה היה הפרויקט שלך — מה היית עושה קודם: קהילה, מובייל, או שותפויות?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שיחה פתוחה · יולי 2026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דמו חי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בואי נסתכל על הדבר האמיתי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133295" y="1737360"/>
            <a:ext cx="9509760" cy="822960"/>
          </a:xfrm>
          <a:prstGeom prst="roundRect">
            <a:avLst>
              <a:gd name="adj" fmla="val 11111"/>
            </a:avLst>
          </a:prstGeom>
          <a:solidFill>
            <a:srgbClr val="E8F5F0"/>
          </a:solidFill>
          <a:ln w="19050">
            <a:solidFill>
              <a:srgbClr val="00A8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33295" y="173736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1094415" y="2871216"/>
            <a:ext cx="457200" cy="457200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7" name="Text 5"/>
          <p:cNvSpPr/>
          <p:nvPr/>
        </p:nvSpPr>
        <p:spPr>
          <a:xfrm>
            <a:off x="11094415" y="2871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11135" y="28529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דף הבית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85292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הבאנר החי רץ, הפיד נושם, מחירים מתעדכנים מול העיניים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094415" y="3493008"/>
            <a:ext cx="457200" cy="457200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11" name="Text 9"/>
          <p:cNvSpPr/>
          <p:nvPr/>
        </p:nvSpPr>
        <p:spPr>
          <a:xfrm>
            <a:off x="11094415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11135" y="3474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מצב כהה ובהיר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מתג אחד — כל האתר מתחלף, כולל כל גרף ווידג׳ט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1094415" y="4114800"/>
            <a:ext cx="457200" cy="457200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15" name="Text 13"/>
          <p:cNvSpPr/>
          <p:nvPr/>
        </p:nvSpPr>
        <p:spPr>
          <a:xfrm>
            <a:off x="11094415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11135" y="40965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עמוד מניה — טבע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09651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דאטה חי, גרף, ומה הקהילה חושבת — הכל בעברית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1094415" y="4736592"/>
            <a:ext cx="457200" cy="457200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19" name="Text 17"/>
          <p:cNvSpPr/>
          <p:nvPr/>
        </p:nvSpPr>
        <p:spPr>
          <a:xfrm>
            <a:off x="11094415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11135" y="471830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שווקים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71830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מפת חום סקטורים, מדד פחד וחמדנות, מאקרו — במבט אחד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1094415" y="5358384"/>
            <a:ext cx="457200" cy="457200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23" name="Text 21"/>
          <p:cNvSpPr/>
          <p:nvPr/>
        </p:nvSpPr>
        <p:spPr>
          <a:xfrm>
            <a:off x="11094415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11135" y="534009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הליגה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34009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דירוג האנליסטים — הגיימיפיקציה שתחזיק קהילה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8" name="Text 25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שיחה פתוחה · יולי 2026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איך זה נבנה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איך אדם אחד בונה בקצב של צוות שלם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031175" y="182880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31175" y="20116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28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🧠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68335" y="26517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אני מגדיר — הבינה המלאכותית מבצעת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14055" y="31546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אפיון, סקירות עיצוב ותוכניות עבודה כתובות — ואז ביצוע מהיר עם בקרה שלי על כל שלב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1279" y="182880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1279" y="20116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28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🔬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28439" y="26517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בדיקות שיטתיות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74159" y="31546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סורקי ניגודיות, בדיקות בריאות לפרודקשן, ואימות אחרי כל פריסה — לא ״עובד אצלי״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1383" y="182880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1383" y="20116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28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📚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8543" y="26517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הידע נשמר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4263" y="31546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 לקח הופך לתיעוד ולכלי — הפרויקט לומד, לא רק אני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FF9E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36815" y="46817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💡 למה זה מעניין אותך מקצועית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שרואים פה זה מקרה בוחן חי — אדם אחד עם בינה מלאכותית, במהירות של צוות ובאיכות של תהליך מסודר. אשמח לחוות דעתך איפה השיטה הזאת נשברת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שיחה פתוחה · יולי 2026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D2E"/>
          </a:solidFill>
          <a:ln/>
        </p:spPr>
      </p:sp>
      <p:sp>
        <p:nvSpPr>
          <p:cNvPr id="3" name="Shape 1"/>
          <p:cNvSpPr/>
          <p:nvPr/>
        </p:nvSpPr>
        <p:spPr>
          <a:xfrm rot="2280000">
            <a:off x="8351215" y="-1828800"/>
            <a:ext cx="5486400" cy="5486400"/>
          </a:xfrm>
          <a:prstGeom prst="rect">
            <a:avLst/>
          </a:prstGeom>
          <a:solidFill>
            <a:srgbClr val="006B52"/>
          </a:solidFill>
          <a:ln/>
        </p:spPr>
      </p:sp>
      <p:sp>
        <p:nvSpPr>
          <p:cNvPr id="4" name="Shape 2"/>
          <p:cNvSpPr/>
          <p:nvPr/>
        </p:nvSpPr>
        <p:spPr>
          <a:xfrm>
            <a:off x="7010248" y="1602889"/>
            <a:ext cx="94129" cy="225911"/>
          </a:xfrm>
          <a:prstGeom prst="rect">
            <a:avLst/>
          </a:prstGeom>
          <a:solidFill>
            <a:srgbClr val="C8FFE5"/>
          </a:solidFill>
          <a:ln/>
        </p:spPr>
      </p:sp>
      <p:sp>
        <p:nvSpPr>
          <p:cNvPr id="5" name="Shape 3"/>
          <p:cNvSpPr/>
          <p:nvPr/>
        </p:nvSpPr>
        <p:spPr>
          <a:xfrm>
            <a:off x="7126968" y="1414631"/>
            <a:ext cx="94129" cy="414169"/>
          </a:xfrm>
          <a:prstGeom prst="rect">
            <a:avLst/>
          </a:prstGeom>
          <a:solidFill>
            <a:srgbClr val="C8FFE5"/>
          </a:solidFill>
          <a:ln/>
        </p:spPr>
      </p:sp>
      <p:sp>
        <p:nvSpPr>
          <p:cNvPr id="6" name="Shape 4"/>
          <p:cNvSpPr/>
          <p:nvPr/>
        </p:nvSpPr>
        <p:spPr>
          <a:xfrm>
            <a:off x="7243689" y="1226372"/>
            <a:ext cx="94129" cy="6024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154016" y="1111910"/>
            <a:ext cx="1728216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322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</a:t>
            </a:r>
            <a:endParaRPr lang="en-US" sz="3220" dirty="0"/>
          </a:p>
        </p:txBody>
      </p:sp>
      <p:sp>
        <p:nvSpPr>
          <p:cNvPr id="8" name="Text 6"/>
          <p:cNvSpPr/>
          <p:nvPr/>
        </p:nvSpPr>
        <p:spPr>
          <a:xfrm>
            <a:off x="3779215" y="25603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תודה 🙏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עכשיו — ספרי לי מה את באמת חושבת.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169768" y="4389120"/>
            <a:ext cx="5852160" cy="685800"/>
          </a:xfrm>
          <a:prstGeom prst="roundRect">
            <a:avLst>
              <a:gd name="adj" fmla="val 13333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9768" y="438912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שיחה פתוחה · יולי 2026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Tsua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תשואה</dc:creator>
  <cp:lastModifiedBy>תשואה</cp:lastModifiedBy>
  <cp:revision>1</cp:revision>
  <dcterms:created xsi:type="dcterms:W3CDTF">2026-07-11T14:24:01Z</dcterms:created>
  <dcterms:modified xsi:type="dcterms:W3CDTF">2026-07-11T14:24:01Z</dcterms:modified>
</cp:coreProperties>
</file>