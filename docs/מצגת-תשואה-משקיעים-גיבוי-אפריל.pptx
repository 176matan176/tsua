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תשואה הוא הפיד של המשקיע הישראלי — פלטפורמה חברתית אחת בעברית שמחליפה את Twitter, TradingView ו-WhatsApp. השוק מדבר 24/7, אבל עד היום לא בעברית. אנחנו מגייסים Pre-Seed כדי לבנות את ברירת-המחדל הפיננסית של ישראל.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הבעיה: משקיע קמעונאי ישראלי בן 34 פותח 5 מסכים שונים כל בוקר — Twitter, Yahoo, WhatsApp, TradingView, חדשות. חמש אפליקציות מפוצלות, רובן באנגלית, ה-WhatsApp ספאם ללא חיפוש. אין לו מושג מה הקהל הישראלי חושב. אין פלטפורמה אחת חברתית בעברית שפותרת את הכל.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הפתרון: תשואה — פלטפורמה אחת Hebrew-first שמחליפה את כולן. ארבעה עמודים: נתוני שוק בזמן אמת (ארה״ב + ת״א), פיד חברתי עם סנטימנט קהילתי, מילון מובנה בעברית לכל מונח, ותיק וירטואלי להתאמן. הקסם: כל מספר, מניה, פוסט ומשתמש מחוברים זה לזה — חוויה אחת בעברית.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נקודה קריטית למשקיע: המוצר כבר חי בפרודקשן, לא במצגת. 27 עמודים, 26 API endpoints, 5 אינטגרציות חיות, ביצועים מעולים. תשע מודולים מלאים — Feed, Markets, Stock Detail, Portfolio, Rooms, Leaderboard ועוד. הכל עברית, RTL מלא, אפס נתונים מזויפים. אנחנו לא מבקשים כסף כדי לבנות — בנינו, ומבקשים כסף כדי לצמוח.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גודל שוק: TAM — 1.8 מיליון בעלי תיק השקעות פעיל בישראל. SAM — 400 אלף סוחרים קמעונאיים online. SOM שנה 1 — 30 עד 50 אלף רשומים. החישוב הכלכלי לשנה 3: כ-3 מיליון ש״ח ARR — מ-Pro, אפיליאט ותוכן ממומן. שוק גדול מספיק, וריאלי להגיע אליו.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תחרות: כל שחקן עושה חלק — חדשות, מסחר, גרפים, או צ׳אט — אבל אף אחד לא משלב. הבנקים והברוקרים משלימים אותנו, לא מתחרים. eToro גלובלי אך לא בעברית. ה-WhatsApp הוא הבעיה — אנחנו הסדר. הבידול: שש יכולות שרק לנו יש ביחד — עברית, נתונים בזמן אמת, סנטימנט, מילון, תיק וירטואלי, וליבה חינמית.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Traction: לא הבטחות — ביצוע. שלושה גלי פיצ׳רים כבר בפרודקשן: Foundation, מילון+סקטורים+מאקרו, וקריפטו+השוואה+דוחות. גל 4 (Retention &amp; Growth) בדרך. ה-velocity: 3-4 פיצ׳רים בשבוע, אפס חוב טכני, אפס נתונים מזויפים. זה מה שמשקיע רוצה לראות — צוות שמבצע מהר.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מודל עסקי בשלושה שלבים. שנה 1 — חינם לחלוטין, בלי paywall, בונים בסיס משתמשים וערך. שנה 2 — Tsua Pro ב-29 ש״ח לחודש: alerts ללא הגבלה, screener, אנליטיקה. שנה 2-3 — ערוצים משלימים: אפיליאט עם ברוקרים, תוכן ממומן בשקיפות, ו-B2B API. יעד שנה 3: 3 מיליון ARR, 5% המרה, NPS מעל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מפת דרכים ל-12 חודשים. Q2 — גל 4: alerts, email, referrals → 10K רשומים. Q3 — חוכמת קהל: consensus, מומחים מאומתים → 30K. Q4 — מונטיזציה: Tsua Pro, אפיליאט → ARR ראשון. Q1 2027 — TASE מלא: נתונים בזמן אמת, אג״ח, ת״א-125 → 100K MAU ומיליון ARR.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הצוות: [החליפו את ה-placeholders בשמות ובביוגרפיות]. למה אנחנו? מכירים את המשקיע הישראלי כי אנחנו הוא — לא מחקר שוק. כל המוצר נבנה solo dev עם velocity מוכחת. ומבינים את השפה — עברית אמיתית, לא תרגום מכונה. זה היתרון הבלתי-הוגן שלנו.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economics שמרניים לשנה 3: ARPU של 348 ש״ח, LTV 580, CAC אורגני 45 ומשולם 180 — יחס LTV:CAC של בערך 4:1, מעל היעד של 3:1. שולי תרומה 75% בזכות stack רזה. העלויות הקבועות זעירות — כ-4,600 ש״ח לשנה כל ה-infra. Runway של מיליון ש״ח מספיק ל-18 עד 24 חודש.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סיכונים — ואיך אנחנו עונים. תחרות מ-eToro: יתרון first-mover בעברית, ו-eToro מוגבל רגולטורית. רגולציה: disclaimer בכל עמוד, אין המלצות פרטיות, אין עסקאות אמיתיות. Acquisition יקר: גל 4 ממוקד ויראליות. Churn: alerts ו-digest יומי נותנים סיבה לחזור. אנחנו מודעים לסיכונים ויש לנו מענה לכל אחד.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אנחנו מגייסים 1.2 מיליון ש״ח Pre-Seed. השימושים: 40% פיתוח (CTO + full-stack), 20% שיווק, 15% נתונים, 10% תשתיות, 10% משפטי-רגולציה, 5% רזרבה. עם הסכום הזה נגיע ל-100K MAU תוך 18 חודשים, נשיק את Tsua Pro, נחבר TASE בזמן אמת, ויהיה לנו runway של 18-24 חודש עד Series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למה עכשיו: שלושה טרנדים מתכנסים. אחד — גאות משקיעים קמעונאיים, הבנקים הכפילו חשבונות, דור Z מתחיל מוקדם. שניים — AI בעברית הפך מידע פיננסי לנגיש, ו-SEO פיננסי בעברית עדיין ריק. שלוש — ירידת אמון בבנקים, הצעיר מחפש peer-to-peer. חלון ההזדמנות הוא 2-3 שנים. תשואה בונה את ברירת-המחדל הפיננסית של ישראל — עכשיו.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סגירה: תודה. הדמו חי וזמין ב-tsua-rho.vercel.app — תתנסו בו עכשיו. מודל פיננסי מלא ו-data room זמינים תחת NDA. בואו נבנה יחד את ברירת-המחדל הפיננסית של ישראל. [החליפו את ה-placeholders בפרטי קשר אמיתיים.]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נספח טכני: חמש סיבות שקשה לחקות אותנו — מילון עברי שנכתב ידנית (curation, לא תרגום), composer עברי-first שמונע ספאם, מיפוי סקטורים מותאם ישראלית, fusion של מאקרו אמריקאי וישראלי, ו-SSG לביצועי-על. זה moat טכנולוגי אמיתי.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נספח השוואה: StockTwits הוא היריב הקרוב — והוא עשה אקזיט של 210 מיליון דולר ב-2023, מה שמוכיח שהמודל עובד. תשואה היא StockTwits פלוס חמישה פיצ׳רים (portfolio, compare, sectors, macro, מילון), בעברית, עם יתרון first-mover בשוק ישראלי של 9 מיליון איש.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/>
        </p:spPr>
      </p:sp>
      <p:sp>
        <p:nvSpPr>
          <p:cNvPr id="3" name="Shape 1"/>
          <p:cNvSpPr/>
          <p:nvPr/>
        </p:nvSpPr>
        <p:spPr>
          <a:xfrm rot="2280000">
            <a:off x="8351215" y="-1828800"/>
            <a:ext cx="5486400" cy="5486400"/>
          </a:xfrm>
          <a:prstGeom prst="rect">
            <a:avLst/>
          </a:prstGeom>
          <a:solidFill>
            <a:srgbClr val="006B52"/>
          </a:solidFill>
          <a:ln/>
        </p:spPr>
      </p:sp>
      <p:sp>
        <p:nvSpPr>
          <p:cNvPr id="4" name="Shape 2"/>
          <p:cNvSpPr/>
          <p:nvPr/>
        </p:nvSpPr>
        <p:spPr>
          <a:xfrm rot="1800000">
            <a:off x="10180015" y="4846320"/>
            <a:ext cx="4572000" cy="4572000"/>
          </a:xfrm>
          <a:prstGeom prst="rect">
            <a:avLst/>
          </a:prstGeom>
          <a:solidFill>
            <a:srgbClr val="0A5240"/>
          </a:solidFill>
          <a:ln/>
        </p:spPr>
      </p:sp>
      <p:sp>
        <p:nvSpPr>
          <p:cNvPr id="5" name="Shape 3"/>
          <p:cNvSpPr/>
          <p:nvPr/>
        </p:nvSpPr>
        <p:spPr>
          <a:xfrm>
            <a:off x="10820095" y="869756"/>
            <a:ext cx="83372" cy="200092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6" name="Shape 4"/>
          <p:cNvSpPr/>
          <p:nvPr/>
        </p:nvSpPr>
        <p:spPr>
          <a:xfrm>
            <a:off x="10923476" y="703012"/>
            <a:ext cx="83372" cy="366836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7" name="Shape 5"/>
          <p:cNvSpPr/>
          <p:nvPr/>
        </p:nvSpPr>
        <p:spPr>
          <a:xfrm>
            <a:off x="11026857" y="536269"/>
            <a:ext cx="83372" cy="5335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76004" y="434889"/>
            <a:ext cx="1530706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852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</a:t>
            </a:r>
            <a:endParaRPr lang="en-US" sz="2852" dirty="0"/>
          </a:p>
        </p:txBody>
      </p:sp>
      <p:sp>
        <p:nvSpPr>
          <p:cNvPr id="9" name="Text 7"/>
          <p:cNvSpPr/>
          <p:nvPr/>
        </p:nvSpPr>
        <p:spPr>
          <a:xfrm>
            <a:off x="3779215" y="19202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3779215" y="3291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הפיד של המשקיע הישראלי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79215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המוצר שמחליף את Twitter + TradingView + WhatsApp — הכל בעברית, במקום אחד.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90895" y="4754880"/>
            <a:ext cx="5852160" cy="640080"/>
          </a:xfrm>
          <a:prstGeom prst="roundRect">
            <a:avLst>
              <a:gd name="adj" fmla="val 8571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82335" y="47548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״השוק מדבר ב-24/7. עד עכשיו, בעברית — הוא לא.״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79215" y="5715000"/>
            <a:ext cx="7863840" cy="13716"/>
          </a:xfrm>
          <a:prstGeom prst="rect">
            <a:avLst/>
          </a:prstGeom>
          <a:solidFill>
            <a:srgbClr val="2F6B58"/>
          </a:solidFill>
          <a:ln/>
        </p:spPr>
      </p:sp>
      <p:sp>
        <p:nvSpPr>
          <p:cNvPr id="15" name="Text 13"/>
          <p:cNvSpPr/>
          <p:nvPr/>
        </p:nvSpPr>
        <p:spPr>
          <a:xfrm>
            <a:off x="3779215" y="5852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מצגת משקיעים · Pre-Seed · אפריל 2026     |     tsua-rho.vercel.app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הבעיה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משקיע ישראלי פותח 5 מסכים כל בוקר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9535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⏰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איפה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למה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08:15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Twitter / X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$TEVA, $NVDA — מה קורה?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08:30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Yahoo Finance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פרימרקט, volume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09:00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 קבוצות WhatsApp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דעות, פאניקה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09:45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TradingView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גרפים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10:00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Globes / TheMarker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חדשות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82880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5F5"/>
          </a:solidFill>
          <a:ln/>
        </p:spPr>
      </p:sp>
      <p:sp>
        <p:nvSpPr>
          <p:cNvPr id="6" name="Shape 3"/>
          <p:cNvSpPr/>
          <p:nvPr/>
        </p:nvSpPr>
        <p:spPr>
          <a:xfrm>
            <a:off x="5888736" y="1828800"/>
            <a:ext cx="54864" cy="2743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הכאב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חמש אפליקציות, הקשר אחד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כולן באנגלית או תרגום עלוב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WhatsApp: ספאם, ללא חיפוש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אין תחושה מה הקהל הישראלי חושב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מתחיל מרגיש טיפש — מונחים לא נגישים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8006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03D2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8006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אין בישראל פלטפורמה אחת, חברתית, עברית — שפותרת את הכל.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3" name="Text 9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הפתרון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— Hebrew-first Social Stock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18895" y="1554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פלטפורמה אחת שמחליפה את כולן. כל הנתונים, כל הדיון, כל השוק — בעברית טבעית.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45575" y="20574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45575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037015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נתוני שוק בזמן אמת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082735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מניות ארה״ב + ת״א, סקטורים, מאקרו, קריפטו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38367" y="20574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38367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💬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229807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פיד חברתי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75527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סנטימנט קהילתי (Bullish/Bearish), תגובות, עוקבים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1159" y="20574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1159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🎓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2599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מילון מובנה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68319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מונח (P/E, ROE, Beta) עם הסבר בעברית רהוטה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3951" y="205740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" y="222199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30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🎮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5391" y="28346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תיק וירטואלי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1111" y="3355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₪100K להתאמן, ללא סיכון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9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375136" y="4160520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174175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✨ הקסם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617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מספר במוצר → לחיצה ומיד הסבר בעברית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מניה → רואה מה הקהל הישראלי חושב, עכשיו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פוסט → מזהה tickers אוטומטית → מחבר ל-data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משתמש → דירוג אנליסט לפי תשואת תיק וירטואלי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המוצר — מה שכבר בנוי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הפלטפורמה חיה בפרודקשן — ולא בפיתוח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8508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508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8965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עמודי מוצר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220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220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677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932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32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389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טבלאות DB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644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644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4101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אינטגרציות חיות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356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356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5813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רכיבי React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6831" y="1600200"/>
            <a:ext cx="1792224" cy="1051560"/>
          </a:xfrm>
          <a:prstGeom prst="roundRect">
            <a:avLst>
              <a:gd name="adj" fmla="val 8696"/>
            </a:avLst>
          </a:prstGeom>
          <a:solidFill>
            <a:srgbClr val="00A884"/>
          </a:solidFill>
          <a:ln/>
          <a:effectLst>
            <a:outerShdw sx="100000" sy="100000" kx="0" ky="0" algn="bl" rotWithShape="0" blurRad="76200" dist="25400" dir="16200000">
              <a:srgbClr val="9FE3CF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6831" y="1728216"/>
            <a:ext cx="1792224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&lt;1.5s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2551" y="2252167"/>
            <a:ext cx="1700784" cy="357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LCP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🧩 מודול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מה זה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Feed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פוסטים עם sentiment + tickers + תמונות + שרשורים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Markets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מדדים, gainers/losers, מט״ח, heatmap סקטורים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Stock Detail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7 שכבות: Header · Stats · Company · Chart · News · Sentiment · Discussion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Portfolio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תיק וירטואלי, holdings, P&amp;L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Rooms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צ׳אט חי בזמן אמת (Socket.io)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Leaderboard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דירוג אנליסטים לפי rating + תשואה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48640" y="55321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8F5F0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55321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☑ הכל עברית Hebrew-first   ·   ☑ RTL מלא   ·   ☑ PWA installable   ·   ☑ Zero mock data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7" name="Text 2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גודל השוק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TAM · SAM · SOM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362895" y="178308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1615" y="1783080"/>
            <a:ext cx="10058400" cy="566928"/>
          </a:xfrm>
          <a:prstGeom prst="roundRect">
            <a:avLst>
              <a:gd name="adj" fmla="val 9677"/>
            </a:avLst>
          </a:prstGeom>
          <a:solidFill>
            <a:srgbClr val="003D2E"/>
          </a:solidFill>
          <a:ln/>
        </p:spPr>
      </p:sp>
      <p:sp>
        <p:nvSpPr>
          <p:cNvPr id="6" name="Text 4"/>
          <p:cNvSpPr/>
          <p:nvPr/>
        </p:nvSpPr>
        <p:spPr>
          <a:xfrm>
            <a:off x="258775" y="1783080"/>
            <a:ext cx="978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1.8M בעלי תיק השקעות פעיל בישראל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62895" y="262432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13455" y="2624328"/>
            <a:ext cx="6766560" cy="566928"/>
          </a:xfrm>
          <a:prstGeom prst="roundRect">
            <a:avLst>
              <a:gd name="adj" fmla="val 9677"/>
            </a:avLst>
          </a:prstGeom>
          <a:solidFill>
            <a:srgbClr val="006B52"/>
          </a:solidFill>
          <a:ln/>
        </p:spPr>
      </p:sp>
      <p:sp>
        <p:nvSpPr>
          <p:cNvPr id="9" name="Text 7"/>
          <p:cNvSpPr/>
          <p:nvPr/>
        </p:nvSpPr>
        <p:spPr>
          <a:xfrm>
            <a:off x="3550615" y="262432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400K קמעונאיים, סוחרים עצמאית 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62895" y="346557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071055" y="3465576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1A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7208215" y="346557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30–50K משתמשים רשומים (שנה 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91672" cy="1783080"/>
          </a:xfrm>
          <a:prstGeom prst="roundRect">
            <a:avLst>
              <a:gd name="adj" fmla="val 4103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2495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💰 חישוב ערך שנתי (שנה 3)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5074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100K MAU × 5% Pro × ₪29 × 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₪1.7M ARR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35040" y="53675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Affiliate — 15K referrals × ₪50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367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₪750K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0" y="56601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Sponsored content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6601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₪500K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5742432"/>
            <a:ext cx="10332720" cy="16459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57972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יעד שנה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7972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4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~₪3M ARR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תחרות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למה אין כבר פלטפורמה כזו בישראל?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828800"/>
                <a:gridCol w="292608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שחקן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נוכחי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מה חסר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איום עלינו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8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Bizportal / Globes / TheMarker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חדשות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חד-כיווני, ללא קהילה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⚠️ בינוני — brand, SEO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IBI / Interactive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מסחר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UI כבד, לא מלמד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✅ משלים — לא מתחרה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StockTwits / eToro Social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פיד גלובלי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אנגלית, לא רלוונטי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⚠️ eToro גדול — אך לא עברית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TradingView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גרפים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לפרופים, אנגלית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⚠️ נמוך — משלים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Telegram / WhatsApp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נוכחות יומית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ספאם, ללא ארגון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✅ בעיה — אנחנו הסדר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003D2E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4348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🏆 הבידול המנצח — 6 יכולות שרק לנו יש ביחד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59775" y="493776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59775" y="49377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Hebrew-first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66767" y="493776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66767" y="49377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data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273759" y="493776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73759" y="493776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Community sentiment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59775" y="544068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9775" y="544068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Dictionary built-in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66767" y="544068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66767" y="544068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Virtual portfolio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273759" y="5440680"/>
            <a:ext cx="3383280" cy="420624"/>
          </a:xfrm>
          <a:prstGeom prst="roundRect">
            <a:avLst>
              <a:gd name="adj" fmla="val 50000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73759" y="5440680"/>
            <a:ext cx="3383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Free core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1" name="Text 17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MVP → Production → 3 גלי פיצ׳רים בשבועות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323015" y="1828800"/>
            <a:ext cx="27432" cy="3108960"/>
          </a:xfrm>
          <a:prstGeom prst="rect">
            <a:avLst/>
          </a:prstGeom>
          <a:solidFill>
            <a:srgbClr val="C0DACE"/>
          </a:solidFill>
          <a:ln/>
        </p:spPr>
      </p:sp>
      <p:sp>
        <p:nvSpPr>
          <p:cNvPr id="5" name="Shape 3"/>
          <p:cNvSpPr/>
          <p:nvPr/>
        </p:nvSpPr>
        <p:spPr>
          <a:xfrm>
            <a:off x="11130991" y="1828800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6" name="Text 4"/>
          <p:cNvSpPr/>
          <p:nvPr/>
        </p:nvSpPr>
        <p:spPr>
          <a:xfrm>
            <a:off x="11130991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62095" y="179222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1 · 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62095" y="2139696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 · Feed · Stocks · Portfolio · Rooms · Notifications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130991" y="2606040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0" name="Text 8"/>
          <p:cNvSpPr/>
          <p:nvPr/>
        </p:nvSpPr>
        <p:spPr>
          <a:xfrm>
            <a:off x="11130991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62095" y="256946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2 · מילון + סקטורים + מאקרו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62095" y="2916936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30+ מונחים · Tooltips · GICS heatmap · FRED + בנק ישראל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130991" y="3383280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4" name="Text 12"/>
          <p:cNvSpPr/>
          <p:nvPr/>
        </p:nvSpPr>
        <p:spPr>
          <a:xfrm>
            <a:off x="11130991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62095" y="334670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3 · קריפטו + השוואה + דוחות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62095" y="3694176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 מטבעות · Compare 4 stocks · Earnings calendar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130991" y="416052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1130991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62095" y="412394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4 · Retention &amp; Growth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62095" y="4471416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Alerts · Email · Push · OG images · Widgets · Referrals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9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30584" y="51206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2064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⚡ Velocity: 3–4 פיצ׳רים בפרודקשן בשבוע · Zero technical debt · Zero mock data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מודל עסקי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Freemium → Pro → Affiliates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058607" y="1828800"/>
            <a:ext cx="358444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59007" y="1664208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6" name="Text 4"/>
          <p:cNvSpPr/>
          <p:nvPr/>
        </p:nvSpPr>
        <p:spPr>
          <a:xfrm>
            <a:off x="11259007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41487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שנה 1 · חינם לחלוטין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41487" y="269748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אין paywall לפני שרואים ערך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יעד: 30–50K רשומים, 10K MAU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עלויות תשתית &lt; ₪5K/חודש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4431" y="1828800"/>
            <a:ext cx="3584448" cy="3017520"/>
          </a:xfrm>
          <a:prstGeom prst="roundRect">
            <a:avLst>
              <a:gd name="adj" fmla="val 3030"/>
            </a:avLst>
          </a:prstGeom>
          <a:solidFill>
            <a:srgbClr val="F4FAF8"/>
          </a:solidFill>
          <a:ln w="25400">
            <a:solidFill>
              <a:srgbClr val="00A8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64831" y="1664208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1" name="Text 9"/>
          <p:cNvSpPr/>
          <p:nvPr/>
        </p:nvSpPr>
        <p:spPr>
          <a:xfrm>
            <a:off x="7564831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7311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שנה 2 · Tsua Pro · ₪29/חודש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7311" y="269748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Alerts ללא הגבלה (Free: 10)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Screener מתקדם — P/E, ROE, דיבידנד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Portfolio Analytics + דוחות PDF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Access · Ad-free · Early access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0255" y="1828800"/>
            <a:ext cx="3584448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0655" y="1664208"/>
            <a:ext cx="384048" cy="384048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6" name="Text 14"/>
          <p:cNvSpPr/>
          <p:nvPr/>
        </p:nvSpPr>
        <p:spPr>
          <a:xfrm>
            <a:off x="3870655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3135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שנה 2–3 · ערוצים משלימים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3135" y="2697480"/>
            <a:ext cx="3246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Affiliate עם ברוקרים — ₪30–60/lead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Sponsored content — disclosure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B2B API — בלוגים / newsletters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7492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🎯 יעד שנה 3:  ₪3M ARR  ·  5% conversion  ·  NPS &gt;50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מפת דרכים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 חודשים קדימה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945575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9E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82735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82735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4 — הבא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82735" y="28346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🔔 Alerts engine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📧 Email digest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🖼 OG share images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📊 Embed widgets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👥 Referrals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082735" y="4937760"/>
            <a:ext cx="2423160" cy="10973"/>
          </a:xfrm>
          <a:prstGeom prst="rect">
            <a:avLst/>
          </a:prstGeom>
          <a:solidFill>
            <a:srgbClr val="C0DACE"/>
          </a:solidFill>
          <a:ln/>
        </p:spPr>
      </p:sp>
      <p:sp>
        <p:nvSpPr>
          <p:cNvPr id="9" name="Text 7"/>
          <p:cNvSpPr/>
          <p:nvPr/>
        </p:nvSpPr>
        <p:spPr>
          <a:xfrm>
            <a:off x="9037015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10K רשומים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38367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5527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Q3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75527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5 — חוכמת קהל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75527" y="28346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Consensus rating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Verified experts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Polls ומדדים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Analyst reports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5527" y="4937760"/>
            <a:ext cx="2423160" cy="10973"/>
          </a:xfrm>
          <a:prstGeom prst="rect">
            <a:avLst/>
          </a:prstGeom>
          <a:solidFill>
            <a:srgbClr val="C0DACE"/>
          </a:solidFill>
          <a:ln/>
        </p:spPr>
      </p:sp>
      <p:sp>
        <p:nvSpPr>
          <p:cNvPr id="15" name="Text 13"/>
          <p:cNvSpPr/>
          <p:nvPr/>
        </p:nvSpPr>
        <p:spPr>
          <a:xfrm>
            <a:off x="6229807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30K · DAU/MAU &gt;30%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1159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8319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Q4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68319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6 — Monetization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68319" y="28346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 Pro launch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Affiliate integration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Screener מתקדם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Portfolio analytics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68319" y="4937760"/>
            <a:ext cx="2423160" cy="10973"/>
          </a:xfrm>
          <a:prstGeom prst="rect">
            <a:avLst/>
          </a:prstGeom>
          <a:solidFill>
            <a:srgbClr val="C0DACE"/>
          </a:solidFill>
          <a:ln/>
        </p:spPr>
      </p:sp>
      <p:sp>
        <p:nvSpPr>
          <p:cNvPr id="21" name="Text 19"/>
          <p:cNvSpPr/>
          <p:nvPr/>
        </p:nvSpPr>
        <p:spPr>
          <a:xfrm>
            <a:off x="3422599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₪100K ARR ראשון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3951" y="178308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" y="1920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spc="100" kern="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Q1 2027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1111" y="22402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7 — TASE full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1111" y="28346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נתונים real-time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אג״ח ממשלתיות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קרנות סל ישראליות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מדד ת״א-125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1111" y="4937760"/>
            <a:ext cx="2423160" cy="10973"/>
          </a:xfrm>
          <a:prstGeom prst="rect">
            <a:avLst/>
          </a:prstGeom>
          <a:solidFill>
            <a:srgbClr val="C0DACE"/>
          </a:solidFill>
          <a:ln/>
        </p:spPr>
      </p:sp>
      <p:sp>
        <p:nvSpPr>
          <p:cNvPr id="27" name="Text 25"/>
          <p:cNvSpPr/>
          <p:nvPr/>
        </p:nvSpPr>
        <p:spPr>
          <a:xfrm>
            <a:off x="615391" y="5029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▶ 100K MAU · ₪1M ARR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הצוות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 בונה את תשואה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058607" y="169164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30791" y="1874520"/>
            <a:ext cx="640080" cy="640080"/>
          </a:xfrm>
          <a:prstGeom prst="ellipse">
            <a:avLst/>
          </a:prstGeom>
          <a:solidFill>
            <a:srgbClr val="E8F5F0"/>
          </a:solidFill>
          <a:ln w="19050">
            <a:solidFill>
              <a:srgbClr val="00A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30791" y="189280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50047" y="260604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000" b="1" spc="1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50047" y="2898648"/>
            <a:ext cx="34015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[שם]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41487" y="322783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[רקע + סיפור קצר]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4431" y="169164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36615" y="1874520"/>
            <a:ext cx="640080" cy="640080"/>
          </a:xfrm>
          <a:prstGeom prst="ellipse">
            <a:avLst/>
          </a:prstGeom>
          <a:solidFill>
            <a:srgbClr val="E8F5F0"/>
          </a:solidFill>
          <a:ln w="1905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6615" y="189280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5871" y="260604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000" b="1" spc="1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55871" y="2898648"/>
            <a:ext cx="34015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[שם]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7311" y="322783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[רקע טכני]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0255" y="1691640"/>
            <a:ext cx="3584448" cy="1874520"/>
          </a:xfrm>
          <a:prstGeom prst="roundRect">
            <a:avLst>
              <a:gd name="adj" fmla="val 4878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2439" y="1874520"/>
            <a:ext cx="640080" cy="640080"/>
          </a:xfrm>
          <a:prstGeom prst="ellipse">
            <a:avLst/>
          </a:prstGeom>
          <a:solidFill>
            <a:srgbClr val="E8F5F0"/>
          </a:solidFill>
          <a:ln w="19050">
            <a:solidFill>
              <a:srgbClr val="00A8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2439" y="189280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👤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1695" y="260604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000" b="1" spc="1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 / Design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1695" y="2898648"/>
            <a:ext cx="34015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[שם]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3135" y="3227832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[רקע עיצוב / UX]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39535" y="379476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E8F5F0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2415" y="39136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למה אנחנו?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22415" y="4297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מכירים את המשקיע הישראלי — זה אנחנו, לא מחקר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כל המוצר בנוי solo dev — velocity מוכחת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מבינים את השפה — עברית אמיתית, לא google-translate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5029200" cy="1783080"/>
          </a:xfrm>
          <a:prstGeom prst="roundRect">
            <a:avLst>
              <a:gd name="adj" fmla="val 4103"/>
            </a:avLst>
          </a:prstGeom>
          <a:solidFill>
            <a:srgbClr val="F4FAF8"/>
          </a:solidFill>
          <a:ln w="12700">
            <a:solidFill>
              <a:srgbClr val="C0DA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9136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יועצים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2976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[שם] — [אנליסט / CFO / קרנות גידור]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[שם] — [מוצר בחברת פינטק]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כל משתמש שווה — הנחות שמרניות (שנה 3)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8508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65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ARPU Pro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965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₪348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965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₪29 × 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0220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77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LTV (Churn 5%)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0677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₪580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0677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 חודש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932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89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CAC Organic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2389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₪45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389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referral + SEO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644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01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CAC Paid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101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₪180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4101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Meta + Google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356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003D2E"/>
          </a:solidFill>
          <a:ln w="19050">
            <a:solidFill>
              <a:srgbClr val="003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13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LTV:CAC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813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~4:1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5813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יעד &gt;3:1 ✓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6831" y="1691640"/>
            <a:ext cx="179222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C0DA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2551" y="18013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b="1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Contribution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52551" y="22402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75%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52551" y="2770632"/>
            <a:ext cx="17007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lean stack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356616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FFF9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5375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💸 עלויות קבועות (שנה 1)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114800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Vercel Pro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41148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$20/חודש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370832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Supabase Pro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43708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$25/חודש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4626864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Finnhub Premium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46268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$50/חודש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882896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Domain + misc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48828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$10/חודש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0" y="5138928"/>
            <a:ext cx="4480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סה״כ infra שנתי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513892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~₪4,600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960" y="41148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🏃 Runway של ₪1M → 18–24 חודש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43" name="Text 40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סיכונים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מה יכול להשתבש — ואיך אנחנו עונים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FF5F5"/>
          </a:solidFill>
          <a:ln/>
        </p:spPr>
      </p:sp>
      <p:sp>
        <p:nvSpPr>
          <p:cNvPr id="5" name="Shape 3"/>
          <p:cNvSpPr/>
          <p:nvPr/>
        </p:nvSpPr>
        <p:spPr>
          <a:xfrm>
            <a:off x="11585448" y="1645920"/>
            <a:ext cx="54864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881360" y="164592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0" y="164592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תחרות מ-eToro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First-mover בעברית; eToro מוגבל רגולטורית בחוויה חברתית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F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11585448" y="2359152"/>
            <a:ext cx="54864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881360" y="2359152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2359152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רגולציית ייעוץ השקעות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2359152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Disclaimer בכל עמוד · Terms · ללא המלצות פרטיות · ללא עסקאות אמיתיות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FF9E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85448" y="3072384"/>
            <a:ext cx="54864" cy="603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881360" y="3072384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80960" y="3072384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Acquisition יקר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3072384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גל 4 ממוקד virality: OG sharing · widgets · referrals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4FAF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85448" y="3785616"/>
            <a:ext cx="54864" cy="603504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21" name="Text 19"/>
          <p:cNvSpPr/>
          <p:nvPr/>
        </p:nvSpPr>
        <p:spPr>
          <a:xfrm>
            <a:off x="10881360" y="3785616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3785616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Rate limits של ספקי נתונים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3785616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Finnhub Premium ($50/m) · Yahoo fallback ב-dependencies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98848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F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85448" y="4498848"/>
            <a:ext cx="54864" cy="6035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10881360" y="449884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4498848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Churn אחרי onboarding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4498848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alerts + push + daily digest → סיבה לחזור כל יום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FFF9E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585448" y="5212080"/>
            <a:ext cx="54864" cy="603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0881360" y="521208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80960" y="521208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Key-person dependency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31520" y="5212080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תיעוד מלא · code quality גבוהה · hiring Q3 2026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/>
        </p:spPr>
      </p:sp>
      <p:sp>
        <p:nvSpPr>
          <p:cNvPr id="3" name="Text 1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ASK · גיוס PRE-SEED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18895" y="8686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₪1,200,000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פיתוח (CTO + full-stack)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21488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21488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0A884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148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₪480K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2560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שיווק (paid + influencers)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03120" y="26060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2606040"/>
            <a:ext cx="2697480" cy="274320"/>
          </a:xfrm>
          <a:prstGeom prst="roundRect">
            <a:avLst>
              <a:gd name="adj" fmla="val 13333"/>
            </a:avLst>
          </a:prstGeom>
          <a:solidFill>
            <a:srgbClr val="1A9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606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₪240K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נתונים (Finnhub + TASE)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03120" y="30632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74970" y="3063240"/>
            <a:ext cx="202311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74970" y="3063240"/>
            <a:ext cx="20231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₪180K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474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תשתיות (Vercel + Supabase)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103120" y="35204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6149340" y="3520440"/>
            <a:ext cx="134874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149340" y="3520440"/>
            <a:ext cx="1348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474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₪120K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3931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משפטי + רגולציה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03120" y="39776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27" name="Shape 25"/>
          <p:cNvSpPr/>
          <p:nvPr/>
        </p:nvSpPr>
        <p:spPr>
          <a:xfrm>
            <a:off x="6149340" y="3977640"/>
            <a:ext cx="134874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149340" y="3977640"/>
            <a:ext cx="1348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₪120K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4389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רזרבה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103120" y="4434840"/>
            <a:ext cx="5394960" cy="274320"/>
          </a:xfrm>
          <a:prstGeom prst="roundRect">
            <a:avLst>
              <a:gd name="adj" fmla="val 13333"/>
            </a:avLst>
          </a:prstGeom>
          <a:solidFill>
            <a:srgbClr val="0C4A3A"/>
          </a:solidFill>
          <a:ln/>
        </p:spPr>
      </p:sp>
      <p:sp>
        <p:nvSpPr>
          <p:cNvPr id="32" name="Shape 30"/>
          <p:cNvSpPr/>
          <p:nvPr/>
        </p:nvSpPr>
        <p:spPr>
          <a:xfrm>
            <a:off x="6823710" y="4434840"/>
            <a:ext cx="674370" cy="274320"/>
          </a:xfrm>
          <a:prstGeom prst="roundRect">
            <a:avLst>
              <a:gd name="adj" fmla="val 13333"/>
            </a:avLst>
          </a:prstGeom>
          <a:solidFill>
            <a:srgbClr val="8A9CB8"/>
          </a:solidFill>
          <a:ln/>
        </p:spPr>
      </p:sp>
      <p:sp>
        <p:nvSpPr>
          <p:cNvPr id="33" name="Text 31"/>
          <p:cNvSpPr/>
          <p:nvPr/>
        </p:nvSpPr>
        <p:spPr>
          <a:xfrm>
            <a:off x="6823710" y="4434840"/>
            <a:ext cx="6743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3891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₪60K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65615" y="51389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🎯 עם ₪1.2M נגיע ל: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54864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100K MAU תוך 18 חודשים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 Pro → ₪100K–300K ARR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TASE real-time (גל 7)</a:t>
            </a:r>
            <a:pPr algn="r" marL="165100" indent="-1651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Runway 18–24 חודש עד Series A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40" name="Text 37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300" kern="0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למה עכשיו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 טרנדים מתכנסים ליצירת חלון הזדמנות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058607" y="192024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4FAF8"/>
          </a:solidFill>
          <a:ln/>
        </p:spPr>
      </p:sp>
      <p:sp>
        <p:nvSpPr>
          <p:cNvPr id="5" name="Shape 3"/>
          <p:cNvSpPr/>
          <p:nvPr/>
        </p:nvSpPr>
        <p:spPr>
          <a:xfrm>
            <a:off x="11588191" y="1920240"/>
            <a:ext cx="54864" cy="2286000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6" name="Shape 4"/>
          <p:cNvSpPr/>
          <p:nvPr/>
        </p:nvSpPr>
        <p:spPr>
          <a:xfrm>
            <a:off x="11350447" y="1773936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7" name="Text 5"/>
          <p:cNvSpPr/>
          <p:nvPr/>
        </p:nvSpPr>
        <p:spPr>
          <a:xfrm>
            <a:off x="11350447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41487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🇮🇱 גאות משקיעים קמעונאיים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41487" y="278892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COVID פתח גל משקיעים חדשים · IBI + Interactive הכפילו חשבונות ב-4 שנים · Gen Z מתחיל לפני 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64431" y="192024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4FAF8"/>
          </a:solidFill>
          <a:ln/>
        </p:spPr>
      </p:sp>
      <p:sp>
        <p:nvSpPr>
          <p:cNvPr id="11" name="Shape 9"/>
          <p:cNvSpPr/>
          <p:nvPr/>
        </p:nvSpPr>
        <p:spPr>
          <a:xfrm>
            <a:off x="7894015" y="1920240"/>
            <a:ext cx="54864" cy="2286000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12" name="Shape 10"/>
          <p:cNvSpPr/>
          <p:nvPr/>
        </p:nvSpPr>
        <p:spPr>
          <a:xfrm>
            <a:off x="7656271" y="1773936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3" name="Text 11"/>
          <p:cNvSpPr/>
          <p:nvPr/>
        </p:nvSpPr>
        <p:spPr>
          <a:xfrm>
            <a:off x="7656271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47311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💻 Hebrew AI + דיגיטל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47311" y="278892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ChatGPT/Claude בעברית — מידע פיננסי זמין לראשונה · SEO פיננסי בעברית עדיין underserved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0255" y="1920240"/>
            <a:ext cx="3584448" cy="2286000"/>
          </a:xfrm>
          <a:prstGeom prst="roundRect">
            <a:avLst>
              <a:gd name="adj" fmla="val 4000"/>
            </a:avLst>
          </a:prstGeom>
          <a:solidFill>
            <a:srgbClr val="F4FA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199839" y="1920240"/>
            <a:ext cx="54864" cy="2286000"/>
          </a:xfrm>
          <a:prstGeom prst="rect">
            <a:avLst/>
          </a:prstGeom>
          <a:solidFill>
            <a:srgbClr val="00A884"/>
          </a:solidFill>
          <a:ln/>
        </p:spPr>
      </p:sp>
      <p:sp>
        <p:nvSpPr>
          <p:cNvPr id="18" name="Shape 16"/>
          <p:cNvSpPr/>
          <p:nvPr/>
        </p:nvSpPr>
        <p:spPr>
          <a:xfrm>
            <a:off x="3962095" y="1773936"/>
            <a:ext cx="457200" cy="457200"/>
          </a:xfrm>
          <a:prstGeom prst="ellipse">
            <a:avLst/>
          </a:prstGeom>
          <a:solidFill>
            <a:srgbClr val="00A884"/>
          </a:solidFill>
          <a:ln/>
        </p:spPr>
      </p:sp>
      <p:sp>
        <p:nvSpPr>
          <p:cNvPr id="19" name="Text 17"/>
          <p:cNvSpPr/>
          <p:nvPr/>
        </p:nvSpPr>
        <p:spPr>
          <a:xfrm>
            <a:off x="3962095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3135" y="2103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📉 ירידת אמון בבנקים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3135" y="2788920"/>
            <a:ext cx="32461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המשקיע הצעיר לא סומך על יועץ מהבנק · מחפש peer-to-peer, שקיפות, תוכן גולמי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003D2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🎯 חלון ההזדמנות: 2–3 שנים לפני שבנק ישראלי או eToro-בעברית ייכנסו.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בונה את ה-default הפיננסי של ישראל. עכשיו.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D2E"/>
          </a:solidFill>
          <a:ln/>
        </p:spPr>
      </p:sp>
      <p:sp>
        <p:nvSpPr>
          <p:cNvPr id="3" name="Shape 1"/>
          <p:cNvSpPr/>
          <p:nvPr/>
        </p:nvSpPr>
        <p:spPr>
          <a:xfrm rot="2100000">
            <a:off x="8899855" y="-1463040"/>
            <a:ext cx="4572000" cy="4572000"/>
          </a:xfrm>
          <a:prstGeom prst="rect">
            <a:avLst/>
          </a:prstGeom>
          <a:solidFill>
            <a:srgbClr val="006B52"/>
          </a:solidFill>
          <a:ln/>
        </p:spPr>
      </p:sp>
      <p:sp>
        <p:nvSpPr>
          <p:cNvPr id="4" name="Shape 2"/>
          <p:cNvSpPr/>
          <p:nvPr/>
        </p:nvSpPr>
        <p:spPr>
          <a:xfrm>
            <a:off x="10911535" y="828339"/>
            <a:ext cx="73959" cy="177501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5" name="Shape 3"/>
          <p:cNvSpPr/>
          <p:nvPr/>
        </p:nvSpPr>
        <p:spPr>
          <a:xfrm>
            <a:off x="11003244" y="680421"/>
            <a:ext cx="73959" cy="325419"/>
          </a:xfrm>
          <a:prstGeom prst="rect">
            <a:avLst/>
          </a:prstGeom>
          <a:solidFill>
            <a:srgbClr val="C8FFE5"/>
          </a:solidFill>
          <a:ln/>
        </p:spPr>
      </p:sp>
      <p:sp>
        <p:nvSpPr>
          <p:cNvPr id="6" name="Shape 4"/>
          <p:cNvSpPr/>
          <p:nvPr/>
        </p:nvSpPr>
        <p:spPr>
          <a:xfrm>
            <a:off x="11094953" y="532504"/>
            <a:ext cx="73959" cy="473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453067" y="442570"/>
            <a:ext cx="1357884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53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</a:t>
            </a:r>
            <a:endParaRPr lang="en-US" sz="2530" dirty="0"/>
          </a:p>
        </p:txBody>
      </p:sp>
      <p:sp>
        <p:nvSpPr>
          <p:cNvPr id="8" name="Text 6"/>
          <p:cNvSpPr/>
          <p:nvPr/>
        </p:nvSpPr>
        <p:spPr>
          <a:xfrm>
            <a:off x="0" y="1554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600" b="1" spc="200" kern="0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דברו איתנו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20574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[שם מייסד]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📧 [email@tsua.co]     📞 [+972-…]     💼 [LinkedIn]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86888" y="3749040"/>
            <a:ext cx="6217920" cy="1554480"/>
          </a:xfrm>
          <a:prstGeom prst="roundRect">
            <a:avLst>
              <a:gd name="adj" fmla="val 5882"/>
            </a:avLst>
          </a:prstGeom>
          <a:solidFill>
            <a:srgbClr val="0C4A3A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6888" y="38862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🚀 Demo חי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86888" y="42519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C8FF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86888" y="4846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E8F5F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model + Data room ניתנים ב-NDA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100" i="1" dirty="0">
                <a:solidFill>
                  <a:srgbClr val="8A9CB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תודה · תשואה · אפריל 2026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נספח א׳ · TECHNICAL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למה קשה לחקות אותנו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AF8"/>
          </a:solidFill>
          <a:ln/>
        </p:spPr>
      </p:sp>
      <p:sp>
        <p:nvSpPr>
          <p:cNvPr id="5" name="Shape 3"/>
          <p:cNvSpPr/>
          <p:nvPr/>
        </p:nvSpPr>
        <p:spPr>
          <a:xfrm>
            <a:off x="11585448" y="169164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0927080" y="185623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0927080" y="18562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0" y="180136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מילון עברי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0136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30+ מונחים פיננסיים, הסברים שנכתבו ידנית בהקשר ישראלי. לא תרגום — Curation.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AF8"/>
          </a:solidFill>
          <a:ln/>
        </p:spPr>
      </p:sp>
      <p:sp>
        <p:nvSpPr>
          <p:cNvPr id="11" name="Shape 9"/>
          <p:cNvSpPr/>
          <p:nvPr/>
        </p:nvSpPr>
        <p:spPr>
          <a:xfrm>
            <a:off x="11585448" y="256032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27080" y="272491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7080" y="27249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67004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Composer עברי-first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67004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אכיפת 80%+ עברית · זיהוי tickers אוטומטי · מונע ספאם.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AF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585448" y="342900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27080" y="359359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27080" y="3593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0" y="353872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Mapping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53872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SPDR ETF → שם סקטור עברי → top stocks. תבניות מותאמות ישראלית.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AF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85448" y="429768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27080" y="446227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708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0" y="44074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Macro Fusion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440740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FRED (US) + בנק ישראל (IL) + frankfurter (FX). הרכבה אחת, אין מתחרה.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4FA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85448" y="5166360"/>
            <a:ext cx="54864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27080" y="5330952"/>
            <a:ext cx="420624" cy="42062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10927080" y="5330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29600" y="52760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SSG at build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276088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31 עמודים סטטיים עם quotes דינמיים. ביצועי-על ללא עלות infrastructure.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2015" y="45720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נספח ב׳ · השוואה ל-STOCKTWITS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18895" y="78638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03D2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היריב הקרוב ביותר — אקזיט $210M ב-2023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מדד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StockTwits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תשואה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שפה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אנגלית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עברית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משתמשים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6M גלובלי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0→30K יעד IL שנה 1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נתוני מניה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Basic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Full + Tooltips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Portfolio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וירטואלי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Compare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4 מניות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Sectors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GICS heatmap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Macro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IL + US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מילון פיננסי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30+ מונחים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פריסה ישראלית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A4D3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—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D2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✓ TEVA · NICE · CHKP</a:t>
                      </a:r>
                      <a:endParaRPr lang="en-US" sz="10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FFF9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0" y="1965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💡 תובנה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4688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StockTwits הוכיח שה-model עובד — אקזיט של $210M.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35661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= StockTwits + 5 פיצ׳רים, בעברית, עם יתרון first-mover בשוק של 9 מיליון איש.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AF8"/>
          </a:solidFill>
          <a:ln/>
        </p:spPr>
      </p:sp>
      <p:sp>
        <p:nvSpPr>
          <p:cNvPr id="11" name="Text 7"/>
          <p:cNvSpPr/>
          <p:nvPr/>
        </p:nvSpPr>
        <p:spPr>
          <a:xfrm>
            <a:off x="365760" y="654710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2A4D3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תשואה · מצגת משקיעים · Pre-Seed 2026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8899855" y="65471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850" dirty="0">
                <a:solidFill>
                  <a:srgbClr val="006B5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tsua-rho.vercel.app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460175" y="65471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00A884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Tsua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תשואה</dc:creator>
  <cp:lastModifiedBy>תשואה</cp:lastModifiedBy>
  <cp:revision>1</cp:revision>
  <dcterms:created xsi:type="dcterms:W3CDTF">2026-06-24T15:00:56Z</dcterms:created>
  <dcterms:modified xsi:type="dcterms:W3CDTF">2026-06-24T15:00:56Z</dcterms:modified>
</cp:coreProperties>
</file>